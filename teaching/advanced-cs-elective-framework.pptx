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548640" y="640080"/>
            <a:ext cx="10972800" cy="256032"/>
          </a:xfrm>
          <a:prstGeom prst="rect">
            <a:avLst/>
          </a:prstGeom>
          <a:noFill/>
          <a:ln/>
        </p:spPr>
        <p:txBody>
          <a:bodyPr wrap="square" rtlCol="0" anchor="ctr"/>
          <a:lstStyle/>
          <a:p>
            <a:pPr indent="0" marL="0">
              <a:buNone/>
            </a:pPr>
            <a:r>
              <a:rPr lang="en-US" sz="900" spc="500" kern="0" dirty="0">
                <a:solidFill>
                  <a:srgbClr val="5C6E8C"/>
                </a:solidFill>
                <a:latin typeface="Calibri" pitchFamily="34" charset="0"/>
                <a:ea typeface="Calibri" pitchFamily="34" charset="-122"/>
                <a:cs typeface="Calibri" pitchFamily="34" charset="-120"/>
              </a:rPr>
              <a:t>SASHA APARTSIN</a:t>
            </a:r>
            <a:endParaRPr lang="en-US" sz="900" dirty="0"/>
          </a:p>
        </p:txBody>
      </p:sp>
      <p:sp>
        <p:nvSpPr>
          <p:cNvPr id="4" name="Text 2"/>
          <p:cNvSpPr/>
          <p:nvPr/>
        </p:nvSpPr>
        <p:spPr>
          <a:xfrm>
            <a:off x="548640" y="960120"/>
            <a:ext cx="7498080" cy="1828800"/>
          </a:xfrm>
          <a:prstGeom prst="rect">
            <a:avLst/>
          </a:prstGeom>
          <a:noFill/>
          <a:ln/>
        </p:spPr>
        <p:txBody>
          <a:bodyPr wrap="square" rtlCol="0" anchor="ctr"/>
          <a:lstStyle/>
          <a:p>
            <a:pPr indent="0" marL="0">
              <a:lnSpc>
                <a:spcPct val="110000"/>
              </a:lnSpc>
              <a:buNone/>
            </a:pPr>
            <a:r>
              <a:rPr lang="en-US" sz="4600" b="1" dirty="0">
                <a:solidFill>
                  <a:srgbClr val="D9E4F5"/>
                </a:solidFill>
                <a:latin typeface="Calibri" pitchFamily="34" charset="0"/>
                <a:ea typeface="Calibri" pitchFamily="34" charset="-122"/>
                <a:cs typeface="Calibri" pitchFamily="34" charset="-120"/>
              </a:rPr>
              <a:t>Advanced CS Elective</a:t>
            </a:r>
            <a:endParaRPr lang="en-US" sz="4600" dirty="0"/>
          </a:p>
          <a:p>
            <a:pPr indent="0" marL="0">
              <a:lnSpc>
                <a:spcPct val="110000"/>
              </a:lnSpc>
              <a:buNone/>
            </a:pPr>
            <a:r>
              <a:rPr lang="en-US" sz="4600" b="1" dirty="0">
                <a:solidFill>
                  <a:srgbClr val="D9E4F5"/>
                </a:solidFill>
                <a:latin typeface="Calibri" pitchFamily="34" charset="0"/>
                <a:ea typeface="Calibri" pitchFamily="34" charset="-122"/>
                <a:cs typeface="Calibri" pitchFamily="34" charset="-120"/>
              </a:rPr>
              <a:t>Design Guidelines</a:t>
            </a:r>
            <a:endParaRPr lang="en-US" sz="4600" dirty="0"/>
          </a:p>
        </p:txBody>
      </p:sp>
      <p:sp>
        <p:nvSpPr>
          <p:cNvPr id="5" name="Text 3"/>
          <p:cNvSpPr/>
          <p:nvPr/>
        </p:nvSpPr>
        <p:spPr>
          <a:xfrm>
            <a:off x="548640" y="2971800"/>
            <a:ext cx="8412480" cy="1463040"/>
          </a:xfrm>
          <a:prstGeom prst="rect">
            <a:avLst/>
          </a:prstGeom>
          <a:noFill/>
          <a:ln/>
        </p:spPr>
        <p:txBody>
          <a:bodyPr wrap="square" rtlCol="0" anchor="ctr"/>
          <a:lstStyle/>
          <a:p>
            <a:pPr indent="0" marL="0">
              <a:lnSpc>
                <a:spcPct val="150000"/>
              </a:lnSpc>
              <a:buNone/>
            </a:pPr>
            <a:r>
              <a:rPr lang="en-US" sz="1400" dirty="0">
                <a:solidFill>
                  <a:srgbClr val="8A9DC0"/>
                </a:solidFill>
                <a:latin typeface="Calibri" pitchFamily="34" charset="0"/>
                <a:ea typeface="Calibri" pitchFamily="34" charset="-122"/>
                <a:cs typeface="Calibri" pitchFamily="34" charset="-120"/>
              </a:rPr>
              <a:t>A five-principle framework for evaluating and strengthening advanced</a:t>
            </a:r>
            <a:endParaRPr lang="en-US" sz="1400" dirty="0"/>
          </a:p>
          <a:p>
            <a:pPr indent="0" marL="0">
              <a:lnSpc>
                <a:spcPct val="150000"/>
              </a:lnSpc>
              <a:buNone/>
            </a:pPr>
            <a:r>
              <a:rPr lang="en-US" sz="1400" dirty="0">
                <a:solidFill>
                  <a:srgbClr val="8A9DC0"/>
                </a:solidFill>
                <a:latin typeface="Calibri" pitchFamily="34" charset="0"/>
                <a:ea typeface="Calibri" pitchFamily="34" charset="-122"/>
                <a:cs typeface="Calibri" pitchFamily="34" charset="-120"/>
              </a:rPr>
              <a:t>computer science electives — covering academic depth, current tools,</a:t>
            </a:r>
            <a:endParaRPr lang="en-US" sz="1400" dirty="0"/>
          </a:p>
          <a:p>
            <a:pPr indent="0" marL="0">
              <a:lnSpc>
                <a:spcPct val="150000"/>
              </a:lnSpc>
              <a:buNone/>
            </a:pPr>
            <a:r>
              <a:rPr lang="en-US" sz="1400" dirty="0">
                <a:solidFill>
                  <a:srgbClr val="8A9DC0"/>
                </a:solidFill>
                <a:latin typeface="Calibri" pitchFamily="34" charset="0"/>
                <a:ea typeface="Calibri" pitchFamily="34" charset="-122"/>
                <a:cs typeface="Calibri" pitchFamily="34" charset="-120"/>
              </a:rPr>
              <a:t>topic consolidation, a capstone built during the course, and a</a:t>
            </a:r>
            <a:endParaRPr lang="en-US" sz="1400" dirty="0"/>
          </a:p>
          <a:p>
            <a:pPr indent="0" marL="0">
              <a:lnSpc>
                <a:spcPct val="150000"/>
              </a:lnSpc>
              <a:buNone/>
            </a:pPr>
            <a:r>
              <a:rPr lang="en-US" sz="1400" dirty="0">
                <a:solidFill>
                  <a:srgbClr val="8A9DC0"/>
                </a:solidFill>
                <a:latin typeface="Calibri" pitchFamily="34" charset="0"/>
                <a:ea typeface="Calibri" pitchFamily="34" charset="-122"/>
                <a:cs typeface="Calibri" pitchFamily="34" charset="-120"/>
              </a:rPr>
              <a:t>tangible deliverable that adds to the student’s portfolio.</a:t>
            </a:r>
            <a:endParaRPr lang="en-US" sz="1400" dirty="0"/>
          </a:p>
        </p:txBody>
      </p:sp>
      <p:sp>
        <p:nvSpPr>
          <p:cNvPr id="6" name="Shape 4"/>
          <p:cNvSpPr/>
          <p:nvPr/>
        </p:nvSpPr>
        <p:spPr>
          <a:xfrm>
            <a:off x="548640" y="4754880"/>
            <a:ext cx="2029968" cy="658368"/>
          </a:xfrm>
          <a:prstGeom prst="roundRect">
            <a:avLst>
              <a:gd name="adj" fmla="val 11111"/>
            </a:avLst>
          </a:prstGeom>
          <a:solidFill>
            <a:srgbClr val="132030"/>
          </a:solidFill>
          <a:ln w="12700">
            <a:solidFill>
              <a:srgbClr val="253555"/>
            </a:solidFill>
            <a:prstDash val="solid"/>
          </a:ln>
        </p:spPr>
      </p:sp>
      <p:sp>
        <p:nvSpPr>
          <p:cNvPr id="7" name="Text 5"/>
          <p:cNvSpPr/>
          <p:nvPr/>
        </p:nvSpPr>
        <p:spPr>
          <a:xfrm>
            <a:off x="658368" y="4791456"/>
            <a:ext cx="365760" cy="548640"/>
          </a:xfrm>
          <a:prstGeom prst="rect">
            <a:avLst/>
          </a:prstGeom>
          <a:noFill/>
          <a:ln/>
        </p:spPr>
        <p:txBody>
          <a:bodyPr wrap="square" rtlCol="0" anchor="ctr"/>
          <a:lstStyle/>
          <a:p>
            <a:pPr algn="l" indent="0" marL="0">
              <a:buNone/>
            </a:pPr>
            <a:r>
              <a:rPr lang="en-US" sz="2600" b="1" dirty="0">
                <a:solidFill>
                  <a:srgbClr val="E8A33A"/>
                </a:solidFill>
                <a:latin typeface="Calibri" pitchFamily="34" charset="0"/>
                <a:ea typeface="Calibri" pitchFamily="34" charset="-122"/>
                <a:cs typeface="Calibri" pitchFamily="34" charset="-120"/>
              </a:rPr>
              <a:t>1</a:t>
            </a:r>
            <a:endParaRPr lang="en-US" sz="2600" dirty="0"/>
          </a:p>
        </p:txBody>
      </p:sp>
      <p:sp>
        <p:nvSpPr>
          <p:cNvPr id="8" name="Text 6"/>
          <p:cNvSpPr/>
          <p:nvPr/>
        </p:nvSpPr>
        <p:spPr>
          <a:xfrm>
            <a:off x="1005840" y="4791456"/>
            <a:ext cx="1481328" cy="548640"/>
          </a:xfrm>
          <a:prstGeom prst="rect">
            <a:avLst/>
          </a:prstGeom>
          <a:noFill/>
          <a:ln/>
        </p:spPr>
        <p:txBody>
          <a:bodyPr wrap="square" rtlCol="0" anchor="ctr"/>
          <a:lstStyle/>
          <a:p>
            <a:pPr indent="0" marL="0">
              <a:buNone/>
            </a:pPr>
            <a:r>
              <a:rPr lang="en-US" sz="950" dirty="0">
                <a:solidFill>
                  <a:srgbClr val="8A9DC0"/>
                </a:solidFill>
                <a:latin typeface="Calibri" pitchFamily="34" charset="0"/>
                <a:ea typeface="Calibri" pitchFamily="34" charset="-122"/>
                <a:cs typeface="Calibri" pitchFamily="34" charset="-120"/>
              </a:rPr>
              <a:t>Academic Depth</a:t>
            </a:r>
            <a:endParaRPr lang="en-US" sz="950" dirty="0"/>
          </a:p>
        </p:txBody>
      </p:sp>
      <p:sp>
        <p:nvSpPr>
          <p:cNvPr id="9" name="Shape 7"/>
          <p:cNvSpPr/>
          <p:nvPr/>
        </p:nvSpPr>
        <p:spPr>
          <a:xfrm>
            <a:off x="2761488" y="4754880"/>
            <a:ext cx="2029968" cy="658368"/>
          </a:xfrm>
          <a:prstGeom prst="roundRect">
            <a:avLst>
              <a:gd name="adj" fmla="val 11111"/>
            </a:avLst>
          </a:prstGeom>
          <a:solidFill>
            <a:srgbClr val="132030"/>
          </a:solidFill>
          <a:ln w="12700">
            <a:solidFill>
              <a:srgbClr val="253555"/>
            </a:solidFill>
            <a:prstDash val="solid"/>
          </a:ln>
        </p:spPr>
      </p:sp>
      <p:sp>
        <p:nvSpPr>
          <p:cNvPr id="10" name="Text 8"/>
          <p:cNvSpPr/>
          <p:nvPr/>
        </p:nvSpPr>
        <p:spPr>
          <a:xfrm>
            <a:off x="2871216" y="4791456"/>
            <a:ext cx="365760" cy="548640"/>
          </a:xfrm>
          <a:prstGeom prst="rect">
            <a:avLst/>
          </a:prstGeom>
          <a:noFill/>
          <a:ln/>
        </p:spPr>
        <p:txBody>
          <a:bodyPr wrap="square" rtlCol="0" anchor="ctr"/>
          <a:lstStyle/>
          <a:p>
            <a:pPr algn="l" indent="0" marL="0">
              <a:buNone/>
            </a:pPr>
            <a:r>
              <a:rPr lang="en-US" sz="2600" b="1" dirty="0">
                <a:solidFill>
                  <a:srgbClr val="E8A33A"/>
                </a:solidFill>
                <a:latin typeface="Calibri" pitchFamily="34" charset="0"/>
                <a:ea typeface="Calibri" pitchFamily="34" charset="-122"/>
                <a:cs typeface="Calibri" pitchFamily="34" charset="-120"/>
              </a:rPr>
              <a:t>2</a:t>
            </a:r>
            <a:endParaRPr lang="en-US" sz="2600" dirty="0"/>
          </a:p>
        </p:txBody>
      </p:sp>
      <p:sp>
        <p:nvSpPr>
          <p:cNvPr id="11" name="Text 9"/>
          <p:cNvSpPr/>
          <p:nvPr/>
        </p:nvSpPr>
        <p:spPr>
          <a:xfrm>
            <a:off x="3218688" y="4791456"/>
            <a:ext cx="1481328" cy="548640"/>
          </a:xfrm>
          <a:prstGeom prst="rect">
            <a:avLst/>
          </a:prstGeom>
          <a:noFill/>
          <a:ln/>
        </p:spPr>
        <p:txBody>
          <a:bodyPr wrap="square" rtlCol="0" anchor="ctr"/>
          <a:lstStyle/>
          <a:p>
            <a:pPr indent="0" marL="0">
              <a:buNone/>
            </a:pPr>
            <a:r>
              <a:rPr lang="en-US" sz="950" dirty="0">
                <a:solidFill>
                  <a:srgbClr val="8A9DC0"/>
                </a:solidFill>
                <a:latin typeface="Calibri" pitchFamily="34" charset="0"/>
                <a:ea typeface="Calibri" pitchFamily="34" charset="-122"/>
                <a:cs typeface="Calibri" pitchFamily="34" charset="-120"/>
              </a:rPr>
              <a:t>Industry Relevance</a:t>
            </a:r>
            <a:endParaRPr lang="en-US" sz="950" dirty="0"/>
          </a:p>
        </p:txBody>
      </p:sp>
      <p:sp>
        <p:nvSpPr>
          <p:cNvPr id="12" name="Shape 10"/>
          <p:cNvSpPr/>
          <p:nvPr/>
        </p:nvSpPr>
        <p:spPr>
          <a:xfrm>
            <a:off x="4974336" y="4754880"/>
            <a:ext cx="2029968" cy="658368"/>
          </a:xfrm>
          <a:prstGeom prst="roundRect">
            <a:avLst>
              <a:gd name="adj" fmla="val 11111"/>
            </a:avLst>
          </a:prstGeom>
          <a:solidFill>
            <a:srgbClr val="132030"/>
          </a:solidFill>
          <a:ln w="12700">
            <a:solidFill>
              <a:srgbClr val="253555"/>
            </a:solidFill>
            <a:prstDash val="solid"/>
          </a:ln>
        </p:spPr>
      </p:sp>
      <p:sp>
        <p:nvSpPr>
          <p:cNvPr id="13" name="Text 11"/>
          <p:cNvSpPr/>
          <p:nvPr/>
        </p:nvSpPr>
        <p:spPr>
          <a:xfrm>
            <a:off x="5084064" y="4791456"/>
            <a:ext cx="365760" cy="548640"/>
          </a:xfrm>
          <a:prstGeom prst="rect">
            <a:avLst/>
          </a:prstGeom>
          <a:noFill/>
          <a:ln/>
        </p:spPr>
        <p:txBody>
          <a:bodyPr wrap="square" rtlCol="0" anchor="ctr"/>
          <a:lstStyle/>
          <a:p>
            <a:pPr algn="l" indent="0" marL="0">
              <a:buNone/>
            </a:pPr>
            <a:r>
              <a:rPr lang="en-US" sz="2600" b="1" dirty="0">
                <a:solidFill>
                  <a:srgbClr val="E8A33A"/>
                </a:solidFill>
                <a:latin typeface="Calibri" pitchFamily="34" charset="0"/>
                <a:ea typeface="Calibri" pitchFamily="34" charset="-122"/>
                <a:cs typeface="Calibri" pitchFamily="34" charset="-120"/>
              </a:rPr>
              <a:t>3</a:t>
            </a:r>
            <a:endParaRPr lang="en-US" sz="2600" dirty="0"/>
          </a:p>
        </p:txBody>
      </p:sp>
      <p:sp>
        <p:nvSpPr>
          <p:cNvPr id="14" name="Text 12"/>
          <p:cNvSpPr/>
          <p:nvPr/>
        </p:nvSpPr>
        <p:spPr>
          <a:xfrm>
            <a:off x="5431536" y="4791456"/>
            <a:ext cx="1481328" cy="548640"/>
          </a:xfrm>
          <a:prstGeom prst="rect">
            <a:avLst/>
          </a:prstGeom>
          <a:noFill/>
          <a:ln/>
        </p:spPr>
        <p:txBody>
          <a:bodyPr wrap="square" rtlCol="0" anchor="ctr"/>
          <a:lstStyle/>
          <a:p>
            <a:pPr indent="0" marL="0">
              <a:buNone/>
            </a:pPr>
            <a:r>
              <a:rPr lang="en-US" sz="950" dirty="0">
                <a:solidFill>
                  <a:srgbClr val="8A9DC0"/>
                </a:solidFill>
                <a:latin typeface="Calibri" pitchFamily="34" charset="0"/>
                <a:ea typeface="Calibri" pitchFamily="34" charset="-122"/>
                <a:cs typeface="Calibri" pitchFamily="34" charset="-120"/>
              </a:rPr>
              <a:t>Subject Consolidation</a:t>
            </a:r>
            <a:endParaRPr lang="en-US" sz="950" dirty="0"/>
          </a:p>
        </p:txBody>
      </p:sp>
      <p:sp>
        <p:nvSpPr>
          <p:cNvPr id="15" name="Shape 13"/>
          <p:cNvSpPr/>
          <p:nvPr/>
        </p:nvSpPr>
        <p:spPr>
          <a:xfrm>
            <a:off x="7187184" y="4754880"/>
            <a:ext cx="2029968" cy="658368"/>
          </a:xfrm>
          <a:prstGeom prst="roundRect">
            <a:avLst>
              <a:gd name="adj" fmla="val 11111"/>
            </a:avLst>
          </a:prstGeom>
          <a:solidFill>
            <a:srgbClr val="132030"/>
          </a:solidFill>
          <a:ln w="12700">
            <a:solidFill>
              <a:srgbClr val="253555"/>
            </a:solidFill>
            <a:prstDash val="solid"/>
          </a:ln>
        </p:spPr>
      </p:sp>
      <p:sp>
        <p:nvSpPr>
          <p:cNvPr id="16" name="Text 14"/>
          <p:cNvSpPr/>
          <p:nvPr/>
        </p:nvSpPr>
        <p:spPr>
          <a:xfrm>
            <a:off x="7296912" y="4791456"/>
            <a:ext cx="365760" cy="548640"/>
          </a:xfrm>
          <a:prstGeom prst="rect">
            <a:avLst/>
          </a:prstGeom>
          <a:noFill/>
          <a:ln/>
        </p:spPr>
        <p:txBody>
          <a:bodyPr wrap="square" rtlCol="0" anchor="ctr"/>
          <a:lstStyle/>
          <a:p>
            <a:pPr algn="l" indent="0" marL="0">
              <a:buNone/>
            </a:pPr>
            <a:r>
              <a:rPr lang="en-US" sz="2600" b="1" dirty="0">
                <a:solidFill>
                  <a:srgbClr val="E8A33A"/>
                </a:solidFill>
                <a:latin typeface="Calibri" pitchFamily="34" charset="0"/>
                <a:ea typeface="Calibri" pitchFamily="34" charset="-122"/>
                <a:cs typeface="Calibri" pitchFamily="34" charset="-120"/>
              </a:rPr>
              <a:t>4</a:t>
            </a:r>
            <a:endParaRPr lang="en-US" sz="2600" dirty="0"/>
          </a:p>
        </p:txBody>
      </p:sp>
      <p:sp>
        <p:nvSpPr>
          <p:cNvPr id="17" name="Text 15"/>
          <p:cNvSpPr/>
          <p:nvPr/>
        </p:nvSpPr>
        <p:spPr>
          <a:xfrm>
            <a:off x="7644384" y="4791456"/>
            <a:ext cx="1481328" cy="548640"/>
          </a:xfrm>
          <a:prstGeom prst="rect">
            <a:avLst/>
          </a:prstGeom>
          <a:noFill/>
          <a:ln/>
        </p:spPr>
        <p:txBody>
          <a:bodyPr wrap="square" rtlCol="0" anchor="ctr"/>
          <a:lstStyle/>
          <a:p>
            <a:pPr indent="0" marL="0">
              <a:buNone/>
            </a:pPr>
            <a:r>
              <a:rPr lang="en-US" sz="950" dirty="0">
                <a:solidFill>
                  <a:srgbClr val="8A9DC0"/>
                </a:solidFill>
                <a:latin typeface="Calibri" pitchFamily="34" charset="0"/>
                <a:ea typeface="Calibri" pitchFamily="34" charset="-122"/>
                <a:cs typeface="Calibri" pitchFamily="34" charset="-120"/>
              </a:rPr>
              <a:t>Running a Capstone Project</a:t>
            </a:r>
            <a:endParaRPr lang="en-US" sz="950" dirty="0"/>
          </a:p>
        </p:txBody>
      </p:sp>
      <p:sp>
        <p:nvSpPr>
          <p:cNvPr id="18" name="Shape 16"/>
          <p:cNvSpPr/>
          <p:nvPr/>
        </p:nvSpPr>
        <p:spPr>
          <a:xfrm>
            <a:off x="9400032" y="4754880"/>
            <a:ext cx="2029968" cy="658368"/>
          </a:xfrm>
          <a:prstGeom prst="roundRect">
            <a:avLst>
              <a:gd name="adj" fmla="val 11111"/>
            </a:avLst>
          </a:prstGeom>
          <a:solidFill>
            <a:srgbClr val="132030"/>
          </a:solidFill>
          <a:ln w="12700">
            <a:solidFill>
              <a:srgbClr val="253555"/>
            </a:solidFill>
            <a:prstDash val="solid"/>
          </a:ln>
        </p:spPr>
      </p:sp>
      <p:sp>
        <p:nvSpPr>
          <p:cNvPr id="19" name="Text 17"/>
          <p:cNvSpPr/>
          <p:nvPr/>
        </p:nvSpPr>
        <p:spPr>
          <a:xfrm>
            <a:off x="9509760" y="4791456"/>
            <a:ext cx="365760" cy="548640"/>
          </a:xfrm>
          <a:prstGeom prst="rect">
            <a:avLst/>
          </a:prstGeom>
          <a:noFill/>
          <a:ln/>
        </p:spPr>
        <p:txBody>
          <a:bodyPr wrap="square" rtlCol="0" anchor="ctr"/>
          <a:lstStyle/>
          <a:p>
            <a:pPr algn="l" indent="0" marL="0">
              <a:buNone/>
            </a:pPr>
            <a:r>
              <a:rPr lang="en-US" sz="2600" b="1" dirty="0">
                <a:solidFill>
                  <a:srgbClr val="E8A33A"/>
                </a:solidFill>
                <a:latin typeface="Calibri" pitchFamily="34" charset="0"/>
                <a:ea typeface="Calibri" pitchFamily="34" charset="-122"/>
                <a:cs typeface="Calibri" pitchFamily="34" charset="-120"/>
              </a:rPr>
              <a:t>5</a:t>
            </a:r>
            <a:endParaRPr lang="en-US" sz="2600" dirty="0"/>
          </a:p>
        </p:txBody>
      </p:sp>
      <p:sp>
        <p:nvSpPr>
          <p:cNvPr id="20" name="Text 18"/>
          <p:cNvSpPr/>
          <p:nvPr/>
        </p:nvSpPr>
        <p:spPr>
          <a:xfrm>
            <a:off x="9857232" y="4791456"/>
            <a:ext cx="1481328" cy="548640"/>
          </a:xfrm>
          <a:prstGeom prst="rect">
            <a:avLst/>
          </a:prstGeom>
          <a:noFill/>
          <a:ln/>
        </p:spPr>
        <p:txBody>
          <a:bodyPr wrap="square" rtlCol="0" anchor="ctr"/>
          <a:lstStyle/>
          <a:p>
            <a:pPr indent="0" marL="0">
              <a:buNone/>
            </a:pPr>
            <a:r>
              <a:rPr lang="en-US" sz="950" dirty="0">
                <a:solidFill>
                  <a:srgbClr val="8A9DC0"/>
                </a:solidFill>
                <a:latin typeface="Calibri" pitchFamily="34" charset="0"/>
                <a:ea typeface="Calibri" pitchFamily="34" charset="-122"/>
                <a:cs typeface="Calibri" pitchFamily="34" charset="-120"/>
              </a:rPr>
              <a:t>Tangible Delivery</a:t>
            </a:r>
            <a:endParaRPr lang="en-US" sz="950" dirty="0"/>
          </a:p>
        </p:txBody>
      </p:sp>
      <p:sp>
        <p:nvSpPr>
          <p:cNvPr id="21" name="Text 19"/>
          <p:cNvSpPr/>
          <p:nvPr/>
        </p:nvSpPr>
        <p:spPr>
          <a:xfrm>
            <a:off x="548640" y="6492240"/>
            <a:ext cx="11155680" cy="237744"/>
          </a:xfrm>
          <a:prstGeom prst="rect">
            <a:avLst/>
          </a:prstGeom>
          <a:noFill/>
          <a:ln/>
        </p:spPr>
        <p:txBody>
          <a:bodyPr wrap="square" rtlCol="0" anchor="ctr"/>
          <a:lstStyle/>
          <a:p>
            <a:pPr algn="ctr" indent="0" marL="0">
              <a:buNone/>
            </a:pPr>
            <a:r>
              <a:rPr lang="en-US" sz="900" dirty="0">
                <a:solidFill>
                  <a:srgbClr val="5C6E8C"/>
                </a:solidFill>
                <a:latin typeface="Calibri" pitchFamily="34" charset="0"/>
                <a:ea typeface="Calibri" pitchFamily="34" charset="-122"/>
                <a:cs typeface="Calibri" pitchFamily="34" charset="-120"/>
              </a:rPr>
              <a:t>apartsin.com/teaching/advanced-cs-elective-framework.html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502920" y="201168"/>
            <a:ext cx="9144000" cy="548640"/>
          </a:xfrm>
          <a:prstGeom prst="rect">
            <a:avLst/>
          </a:prstGeom>
          <a:noFill/>
          <a:ln/>
        </p:spPr>
        <p:txBody>
          <a:bodyPr wrap="square" rtlCol="0" anchor="ctr"/>
          <a:lstStyle/>
          <a:p>
            <a:pPr indent="0" marL="0">
              <a:buNone/>
            </a:pPr>
            <a:r>
              <a:rPr lang="en-US" sz="2600" b="1" dirty="0">
                <a:solidFill>
                  <a:srgbClr val="D9E4F5"/>
                </a:solidFill>
                <a:latin typeface="Calibri" pitchFamily="34" charset="0"/>
                <a:ea typeface="Calibri" pitchFamily="34" charset="-122"/>
                <a:cs typeface="Calibri" pitchFamily="34" charset="-120"/>
              </a:rPr>
              <a:t>Framework Overview</a:t>
            </a:r>
            <a:endParaRPr lang="en-US" sz="2600" dirty="0"/>
          </a:p>
        </p:txBody>
      </p:sp>
      <p:sp>
        <p:nvSpPr>
          <p:cNvPr id="4" name="Text 2"/>
          <p:cNvSpPr/>
          <p:nvPr/>
        </p:nvSpPr>
        <p:spPr>
          <a:xfrm>
            <a:off x="502920" y="713232"/>
            <a:ext cx="9144000" cy="292608"/>
          </a:xfrm>
          <a:prstGeom prst="rect">
            <a:avLst/>
          </a:prstGeom>
          <a:noFill/>
          <a:ln/>
        </p:spPr>
        <p:txBody>
          <a:bodyPr wrap="square" rtlCol="0" anchor="ctr"/>
          <a:lstStyle/>
          <a:p>
            <a:pPr indent="0" marL="0">
              <a:buNone/>
            </a:pPr>
            <a:r>
              <a:rPr lang="en-US" sz="1300" dirty="0">
                <a:solidFill>
                  <a:srgbClr val="8A9DC0"/>
                </a:solidFill>
                <a:latin typeface="Calibri" pitchFamily="34" charset="0"/>
                <a:ea typeface="Calibri" pitchFamily="34" charset="-122"/>
                <a:cs typeface="Calibri" pitchFamily="34" charset="-120"/>
              </a:rPr>
              <a:t>Five criteria for a strong advanced CS elective</a:t>
            </a:r>
            <a:endParaRPr lang="en-US" sz="1300" dirty="0"/>
          </a:p>
        </p:txBody>
      </p:sp>
      <p:sp>
        <p:nvSpPr>
          <p:cNvPr id="5" name="Shape 3"/>
          <p:cNvSpPr/>
          <p:nvPr/>
        </p:nvSpPr>
        <p:spPr>
          <a:xfrm>
            <a:off x="502920" y="1143000"/>
            <a:ext cx="10972800" cy="896112"/>
          </a:xfrm>
          <a:prstGeom prst="roundRect">
            <a:avLst>
              <a:gd name="adj" fmla="val 8163"/>
            </a:avLst>
          </a:prstGeom>
          <a:solidFill>
            <a:srgbClr val="132030"/>
          </a:solidFill>
          <a:ln w="12700">
            <a:solidFill>
              <a:srgbClr val="253555"/>
            </a:solidFill>
            <a:prstDash val="solid"/>
          </a:ln>
        </p:spPr>
      </p:sp>
      <p:sp>
        <p:nvSpPr>
          <p:cNvPr id="6" name="Text 4"/>
          <p:cNvSpPr/>
          <p:nvPr/>
        </p:nvSpPr>
        <p:spPr>
          <a:xfrm>
            <a:off x="612648" y="1216152"/>
            <a:ext cx="502920" cy="713232"/>
          </a:xfrm>
          <a:prstGeom prst="rect">
            <a:avLst/>
          </a:prstGeom>
          <a:noFill/>
          <a:ln/>
        </p:spPr>
        <p:txBody>
          <a:bodyPr wrap="square" rtlCol="0" anchor="ctr"/>
          <a:lstStyle/>
          <a:p>
            <a:pPr algn="ctr" indent="0" marL="0">
              <a:buNone/>
            </a:pPr>
            <a:r>
              <a:rPr lang="en-US" sz="3000" b="1" dirty="0">
                <a:solidFill>
                  <a:srgbClr val="E8A33A"/>
                </a:solidFill>
                <a:latin typeface="Calibri" pitchFamily="34" charset="0"/>
                <a:ea typeface="Calibri" pitchFamily="34" charset="-122"/>
                <a:cs typeface="Calibri" pitchFamily="34" charset="-120"/>
              </a:rPr>
              <a:t>1</a:t>
            </a:r>
            <a:endParaRPr lang="en-US" sz="3000" dirty="0"/>
          </a:p>
        </p:txBody>
      </p:sp>
      <p:sp>
        <p:nvSpPr>
          <p:cNvPr id="7" name="Text 5"/>
          <p:cNvSpPr/>
          <p:nvPr/>
        </p:nvSpPr>
        <p:spPr>
          <a:xfrm>
            <a:off x="1216152" y="1216152"/>
            <a:ext cx="2560320" cy="365760"/>
          </a:xfrm>
          <a:prstGeom prst="rect">
            <a:avLst/>
          </a:prstGeom>
          <a:noFill/>
          <a:ln/>
        </p:spPr>
        <p:txBody>
          <a:bodyPr wrap="square" rtlCol="0" anchor="ctr"/>
          <a:lstStyle/>
          <a:p>
            <a:pPr indent="0" marL="0">
              <a:buNone/>
            </a:pPr>
            <a:r>
              <a:rPr lang="en-US" sz="1200" b="1" dirty="0">
                <a:solidFill>
                  <a:srgbClr val="D9E4F5"/>
                </a:solidFill>
                <a:latin typeface="Calibri" pitchFamily="34" charset="0"/>
                <a:ea typeface="Calibri" pitchFamily="34" charset="-122"/>
                <a:cs typeface="Calibri" pitchFamily="34" charset="-120"/>
              </a:rPr>
              <a:t>Academic Depth</a:t>
            </a:r>
            <a:endParaRPr lang="en-US" sz="1200" dirty="0"/>
          </a:p>
        </p:txBody>
      </p:sp>
      <p:sp>
        <p:nvSpPr>
          <p:cNvPr id="8" name="Text 6"/>
          <p:cNvSpPr/>
          <p:nvPr/>
        </p:nvSpPr>
        <p:spPr>
          <a:xfrm>
            <a:off x="1216152" y="1581912"/>
            <a:ext cx="10058400" cy="365760"/>
          </a:xfrm>
          <a:prstGeom prst="rect">
            <a:avLst/>
          </a:prstGeom>
          <a:noFill/>
          <a:ln/>
        </p:spPr>
        <p:txBody>
          <a:bodyPr wrap="square" rtlCol="0" anchor="t"/>
          <a:lstStyle/>
          <a:p>
            <a:pPr indent="0" marL="0">
              <a:buNone/>
            </a:pPr>
            <a:r>
              <a:rPr lang="en-US" sz="950" dirty="0">
                <a:solidFill>
                  <a:srgbClr val="8A9DC0"/>
                </a:solidFill>
                <a:latin typeface="Calibri" pitchFamily="34" charset="0"/>
                <a:ea typeface="Calibri" pitchFamily="34" charset="-122"/>
                <a:cs typeface="Calibri" pitchFamily="34" charset="-120"/>
              </a:rPr>
              <a:t>Provide academic depth through advanced scientific and engineering concepts, with enough rigor in models, algorithms, and design principles.</a:t>
            </a:r>
            <a:endParaRPr lang="en-US" sz="950" dirty="0"/>
          </a:p>
        </p:txBody>
      </p:sp>
      <p:sp>
        <p:nvSpPr>
          <p:cNvPr id="9" name="Shape 7"/>
          <p:cNvSpPr/>
          <p:nvPr/>
        </p:nvSpPr>
        <p:spPr>
          <a:xfrm>
            <a:off x="502920" y="2167128"/>
            <a:ext cx="10972800" cy="896112"/>
          </a:xfrm>
          <a:prstGeom prst="roundRect">
            <a:avLst>
              <a:gd name="adj" fmla="val 8163"/>
            </a:avLst>
          </a:prstGeom>
          <a:solidFill>
            <a:srgbClr val="192840"/>
          </a:solidFill>
          <a:ln w="12700">
            <a:solidFill>
              <a:srgbClr val="253555"/>
            </a:solidFill>
            <a:prstDash val="solid"/>
          </a:ln>
        </p:spPr>
      </p:sp>
      <p:sp>
        <p:nvSpPr>
          <p:cNvPr id="10" name="Text 8"/>
          <p:cNvSpPr/>
          <p:nvPr/>
        </p:nvSpPr>
        <p:spPr>
          <a:xfrm>
            <a:off x="612648" y="2240280"/>
            <a:ext cx="502920" cy="713232"/>
          </a:xfrm>
          <a:prstGeom prst="rect">
            <a:avLst/>
          </a:prstGeom>
          <a:noFill/>
          <a:ln/>
        </p:spPr>
        <p:txBody>
          <a:bodyPr wrap="square" rtlCol="0" anchor="ctr"/>
          <a:lstStyle/>
          <a:p>
            <a:pPr algn="ctr" indent="0" marL="0">
              <a:buNone/>
            </a:pPr>
            <a:r>
              <a:rPr lang="en-US" sz="3000" b="1" dirty="0">
                <a:solidFill>
                  <a:srgbClr val="E8A33A"/>
                </a:solidFill>
                <a:latin typeface="Calibri" pitchFamily="34" charset="0"/>
                <a:ea typeface="Calibri" pitchFamily="34" charset="-122"/>
                <a:cs typeface="Calibri" pitchFamily="34" charset="-120"/>
              </a:rPr>
              <a:t>2</a:t>
            </a:r>
            <a:endParaRPr lang="en-US" sz="3000" dirty="0"/>
          </a:p>
        </p:txBody>
      </p:sp>
      <p:sp>
        <p:nvSpPr>
          <p:cNvPr id="11" name="Text 9"/>
          <p:cNvSpPr/>
          <p:nvPr/>
        </p:nvSpPr>
        <p:spPr>
          <a:xfrm>
            <a:off x="1216152" y="2240280"/>
            <a:ext cx="2560320" cy="365760"/>
          </a:xfrm>
          <a:prstGeom prst="rect">
            <a:avLst/>
          </a:prstGeom>
          <a:noFill/>
          <a:ln/>
        </p:spPr>
        <p:txBody>
          <a:bodyPr wrap="square" rtlCol="0" anchor="ctr"/>
          <a:lstStyle/>
          <a:p>
            <a:pPr indent="0" marL="0">
              <a:buNone/>
            </a:pPr>
            <a:r>
              <a:rPr lang="en-US" sz="1200" b="1" dirty="0">
                <a:solidFill>
                  <a:srgbClr val="D9E4F5"/>
                </a:solidFill>
                <a:latin typeface="Calibri" pitchFamily="34" charset="0"/>
                <a:ea typeface="Calibri" pitchFamily="34" charset="-122"/>
                <a:cs typeface="Calibri" pitchFamily="34" charset="-120"/>
              </a:rPr>
              <a:t>Industry Relevance</a:t>
            </a:r>
            <a:endParaRPr lang="en-US" sz="1200" dirty="0"/>
          </a:p>
        </p:txBody>
      </p:sp>
      <p:sp>
        <p:nvSpPr>
          <p:cNvPr id="12" name="Text 10"/>
          <p:cNvSpPr/>
          <p:nvPr/>
        </p:nvSpPr>
        <p:spPr>
          <a:xfrm>
            <a:off x="1216152" y="2606040"/>
            <a:ext cx="10058400" cy="365760"/>
          </a:xfrm>
          <a:prstGeom prst="rect">
            <a:avLst/>
          </a:prstGeom>
          <a:noFill/>
          <a:ln/>
        </p:spPr>
        <p:txBody>
          <a:bodyPr wrap="square" rtlCol="0" anchor="t"/>
          <a:lstStyle/>
          <a:p>
            <a:pPr indent="0" marL="0">
              <a:buNone/>
            </a:pPr>
            <a:r>
              <a:rPr lang="en-US" sz="950" dirty="0">
                <a:solidFill>
                  <a:srgbClr val="8A9DC0"/>
                </a:solidFill>
                <a:latin typeface="Calibri" pitchFamily="34" charset="0"/>
                <a:ea typeface="Calibri" pitchFamily="34" charset="-122"/>
                <a:cs typeface="Calibri" pitchFamily="34" charset="-120"/>
              </a:rPr>
              <a:t>Ensure industry relevance by exposing students to modern tools, frameworks, libraries, datasets, and development environments used in professional practice.</a:t>
            </a:r>
            <a:endParaRPr lang="en-US" sz="950" dirty="0"/>
          </a:p>
        </p:txBody>
      </p:sp>
      <p:sp>
        <p:nvSpPr>
          <p:cNvPr id="13" name="Shape 11"/>
          <p:cNvSpPr/>
          <p:nvPr/>
        </p:nvSpPr>
        <p:spPr>
          <a:xfrm>
            <a:off x="502920" y="3191256"/>
            <a:ext cx="10972800" cy="896112"/>
          </a:xfrm>
          <a:prstGeom prst="roundRect">
            <a:avLst>
              <a:gd name="adj" fmla="val 8163"/>
            </a:avLst>
          </a:prstGeom>
          <a:solidFill>
            <a:srgbClr val="132030"/>
          </a:solidFill>
          <a:ln w="12700">
            <a:solidFill>
              <a:srgbClr val="253555"/>
            </a:solidFill>
            <a:prstDash val="solid"/>
          </a:ln>
        </p:spPr>
      </p:sp>
      <p:sp>
        <p:nvSpPr>
          <p:cNvPr id="14" name="Text 12"/>
          <p:cNvSpPr/>
          <p:nvPr/>
        </p:nvSpPr>
        <p:spPr>
          <a:xfrm>
            <a:off x="612648" y="3264408"/>
            <a:ext cx="502920" cy="713232"/>
          </a:xfrm>
          <a:prstGeom prst="rect">
            <a:avLst/>
          </a:prstGeom>
          <a:noFill/>
          <a:ln/>
        </p:spPr>
        <p:txBody>
          <a:bodyPr wrap="square" rtlCol="0" anchor="ctr"/>
          <a:lstStyle/>
          <a:p>
            <a:pPr algn="ctr" indent="0" marL="0">
              <a:buNone/>
            </a:pPr>
            <a:r>
              <a:rPr lang="en-US" sz="3000" b="1" dirty="0">
                <a:solidFill>
                  <a:srgbClr val="E8A33A"/>
                </a:solidFill>
                <a:latin typeface="Calibri" pitchFamily="34" charset="0"/>
                <a:ea typeface="Calibri" pitchFamily="34" charset="-122"/>
                <a:cs typeface="Calibri" pitchFamily="34" charset="-120"/>
              </a:rPr>
              <a:t>3</a:t>
            </a:r>
            <a:endParaRPr lang="en-US" sz="3000" dirty="0"/>
          </a:p>
        </p:txBody>
      </p:sp>
      <p:sp>
        <p:nvSpPr>
          <p:cNvPr id="15" name="Text 13"/>
          <p:cNvSpPr/>
          <p:nvPr/>
        </p:nvSpPr>
        <p:spPr>
          <a:xfrm>
            <a:off x="1216152" y="3264408"/>
            <a:ext cx="2560320" cy="365760"/>
          </a:xfrm>
          <a:prstGeom prst="rect">
            <a:avLst/>
          </a:prstGeom>
          <a:noFill/>
          <a:ln/>
        </p:spPr>
        <p:txBody>
          <a:bodyPr wrap="square" rtlCol="0" anchor="ctr"/>
          <a:lstStyle/>
          <a:p>
            <a:pPr indent="0" marL="0">
              <a:buNone/>
            </a:pPr>
            <a:r>
              <a:rPr lang="en-US" sz="1200" b="1" dirty="0">
                <a:solidFill>
                  <a:srgbClr val="D9E4F5"/>
                </a:solidFill>
                <a:latin typeface="Calibri" pitchFamily="34" charset="0"/>
                <a:ea typeface="Calibri" pitchFamily="34" charset="-122"/>
                <a:cs typeface="Calibri" pitchFamily="34" charset="-120"/>
              </a:rPr>
              <a:t>Subject Consolidation</a:t>
            </a:r>
            <a:endParaRPr lang="en-US" sz="1200" dirty="0"/>
          </a:p>
        </p:txBody>
      </p:sp>
      <p:sp>
        <p:nvSpPr>
          <p:cNvPr id="16" name="Text 14"/>
          <p:cNvSpPr/>
          <p:nvPr/>
        </p:nvSpPr>
        <p:spPr>
          <a:xfrm>
            <a:off x="1216152" y="3630168"/>
            <a:ext cx="10058400" cy="365760"/>
          </a:xfrm>
          <a:prstGeom prst="rect">
            <a:avLst/>
          </a:prstGeom>
          <a:noFill/>
          <a:ln/>
        </p:spPr>
        <p:txBody>
          <a:bodyPr wrap="square" rtlCol="0" anchor="t"/>
          <a:lstStyle/>
          <a:p>
            <a:pPr indent="0" marL="0">
              <a:buNone/>
            </a:pPr>
            <a:r>
              <a:rPr lang="en-US" sz="950" dirty="0">
                <a:solidFill>
                  <a:srgbClr val="8A9DC0"/>
                </a:solidFill>
                <a:latin typeface="Calibri" pitchFamily="34" charset="0"/>
                <a:ea typeface="Calibri" pitchFamily="34" charset="-122"/>
                <a:cs typeface="Calibri" pitchFamily="34" charset="-120"/>
              </a:rPr>
              <a:t>Consolidate related topics into one broad but deep course, so students leave with the complete toolbox needed to build sophisticated, realistic systems — within the same credit budget.</a:t>
            </a:r>
            <a:endParaRPr lang="en-US" sz="950" dirty="0"/>
          </a:p>
        </p:txBody>
      </p:sp>
      <p:sp>
        <p:nvSpPr>
          <p:cNvPr id="17" name="Shape 15"/>
          <p:cNvSpPr/>
          <p:nvPr/>
        </p:nvSpPr>
        <p:spPr>
          <a:xfrm>
            <a:off x="502920" y="4215384"/>
            <a:ext cx="10972800" cy="896112"/>
          </a:xfrm>
          <a:prstGeom prst="roundRect">
            <a:avLst>
              <a:gd name="adj" fmla="val 8163"/>
            </a:avLst>
          </a:prstGeom>
          <a:solidFill>
            <a:srgbClr val="192840"/>
          </a:solidFill>
          <a:ln w="12700">
            <a:solidFill>
              <a:srgbClr val="253555"/>
            </a:solidFill>
            <a:prstDash val="solid"/>
          </a:ln>
        </p:spPr>
      </p:sp>
      <p:sp>
        <p:nvSpPr>
          <p:cNvPr id="18" name="Text 16"/>
          <p:cNvSpPr/>
          <p:nvPr/>
        </p:nvSpPr>
        <p:spPr>
          <a:xfrm>
            <a:off x="612648" y="4288536"/>
            <a:ext cx="502920" cy="713232"/>
          </a:xfrm>
          <a:prstGeom prst="rect">
            <a:avLst/>
          </a:prstGeom>
          <a:noFill/>
          <a:ln/>
        </p:spPr>
        <p:txBody>
          <a:bodyPr wrap="square" rtlCol="0" anchor="ctr"/>
          <a:lstStyle/>
          <a:p>
            <a:pPr algn="ctr" indent="0" marL="0">
              <a:buNone/>
            </a:pPr>
            <a:r>
              <a:rPr lang="en-US" sz="3000" b="1" dirty="0">
                <a:solidFill>
                  <a:srgbClr val="E8A33A"/>
                </a:solidFill>
                <a:latin typeface="Calibri" pitchFamily="34" charset="0"/>
                <a:ea typeface="Calibri" pitchFamily="34" charset="-122"/>
                <a:cs typeface="Calibri" pitchFamily="34" charset="-120"/>
              </a:rPr>
              <a:t>4</a:t>
            </a:r>
            <a:endParaRPr lang="en-US" sz="3000" dirty="0"/>
          </a:p>
        </p:txBody>
      </p:sp>
      <p:sp>
        <p:nvSpPr>
          <p:cNvPr id="19" name="Text 17"/>
          <p:cNvSpPr/>
          <p:nvPr/>
        </p:nvSpPr>
        <p:spPr>
          <a:xfrm>
            <a:off x="1216152" y="4288536"/>
            <a:ext cx="2560320" cy="365760"/>
          </a:xfrm>
          <a:prstGeom prst="rect">
            <a:avLst/>
          </a:prstGeom>
          <a:noFill/>
          <a:ln/>
        </p:spPr>
        <p:txBody>
          <a:bodyPr wrap="square" rtlCol="0" anchor="ctr"/>
          <a:lstStyle/>
          <a:p>
            <a:pPr indent="0" marL="0">
              <a:buNone/>
            </a:pPr>
            <a:r>
              <a:rPr lang="en-US" sz="1200" b="1" dirty="0">
                <a:solidFill>
                  <a:srgbClr val="D9E4F5"/>
                </a:solidFill>
                <a:latin typeface="Calibri" pitchFamily="34" charset="0"/>
                <a:ea typeface="Calibri" pitchFamily="34" charset="-122"/>
                <a:cs typeface="Calibri" pitchFamily="34" charset="-120"/>
              </a:rPr>
              <a:t>Running a Capstone Project</a:t>
            </a:r>
            <a:endParaRPr lang="en-US" sz="1200" dirty="0"/>
          </a:p>
        </p:txBody>
      </p:sp>
      <p:sp>
        <p:nvSpPr>
          <p:cNvPr id="20" name="Text 18"/>
          <p:cNvSpPr/>
          <p:nvPr/>
        </p:nvSpPr>
        <p:spPr>
          <a:xfrm>
            <a:off x="1216152" y="4654296"/>
            <a:ext cx="10058400" cy="365760"/>
          </a:xfrm>
          <a:prstGeom prst="rect">
            <a:avLst/>
          </a:prstGeom>
          <a:noFill/>
          <a:ln/>
        </p:spPr>
        <p:txBody>
          <a:bodyPr wrap="square" rtlCol="0" anchor="t"/>
          <a:lstStyle/>
          <a:p>
            <a:pPr indent="0" marL="0">
              <a:buNone/>
            </a:pPr>
            <a:r>
              <a:rPr lang="en-US" sz="950" dirty="0">
                <a:solidFill>
                  <a:srgbClr val="8A9DC0"/>
                </a:solidFill>
                <a:latin typeface="Calibri" pitchFamily="34" charset="0"/>
                <a:ea typeface="Calibri" pitchFamily="34" charset="-122"/>
                <a:cs typeface="Calibri" pitchFamily="34" charset="-120"/>
              </a:rPr>
              <a:t>Build the capstone project during the course, not at its end: students gradually develop a significant, novel, technically deep system, presenting at stages and improving it on continuous instructor feedback.</a:t>
            </a:r>
            <a:endParaRPr lang="en-US" sz="950" dirty="0"/>
          </a:p>
        </p:txBody>
      </p:sp>
      <p:sp>
        <p:nvSpPr>
          <p:cNvPr id="21" name="Shape 19"/>
          <p:cNvSpPr/>
          <p:nvPr/>
        </p:nvSpPr>
        <p:spPr>
          <a:xfrm>
            <a:off x="502920" y="5239512"/>
            <a:ext cx="10972800" cy="896112"/>
          </a:xfrm>
          <a:prstGeom prst="roundRect">
            <a:avLst>
              <a:gd name="adj" fmla="val 8163"/>
            </a:avLst>
          </a:prstGeom>
          <a:solidFill>
            <a:srgbClr val="132030"/>
          </a:solidFill>
          <a:ln w="12700">
            <a:solidFill>
              <a:srgbClr val="253555"/>
            </a:solidFill>
            <a:prstDash val="solid"/>
          </a:ln>
        </p:spPr>
      </p:sp>
      <p:sp>
        <p:nvSpPr>
          <p:cNvPr id="22" name="Text 20"/>
          <p:cNvSpPr/>
          <p:nvPr/>
        </p:nvSpPr>
        <p:spPr>
          <a:xfrm>
            <a:off x="612648" y="5312664"/>
            <a:ext cx="502920" cy="713232"/>
          </a:xfrm>
          <a:prstGeom prst="rect">
            <a:avLst/>
          </a:prstGeom>
          <a:noFill/>
          <a:ln/>
        </p:spPr>
        <p:txBody>
          <a:bodyPr wrap="square" rtlCol="0" anchor="ctr"/>
          <a:lstStyle/>
          <a:p>
            <a:pPr algn="ctr" indent="0" marL="0">
              <a:buNone/>
            </a:pPr>
            <a:r>
              <a:rPr lang="en-US" sz="3000" b="1" dirty="0">
                <a:solidFill>
                  <a:srgbClr val="E8A33A"/>
                </a:solidFill>
                <a:latin typeface="Calibri" pitchFamily="34" charset="0"/>
                <a:ea typeface="Calibri" pitchFamily="34" charset="-122"/>
                <a:cs typeface="Calibri" pitchFamily="34" charset="-120"/>
              </a:rPr>
              <a:t>5</a:t>
            </a:r>
            <a:endParaRPr lang="en-US" sz="3000" dirty="0"/>
          </a:p>
        </p:txBody>
      </p:sp>
      <p:sp>
        <p:nvSpPr>
          <p:cNvPr id="23" name="Text 21"/>
          <p:cNvSpPr/>
          <p:nvPr/>
        </p:nvSpPr>
        <p:spPr>
          <a:xfrm>
            <a:off x="1216152" y="5312664"/>
            <a:ext cx="2560320" cy="365760"/>
          </a:xfrm>
          <a:prstGeom prst="rect">
            <a:avLst/>
          </a:prstGeom>
          <a:noFill/>
          <a:ln/>
        </p:spPr>
        <p:txBody>
          <a:bodyPr wrap="square" rtlCol="0" anchor="ctr"/>
          <a:lstStyle/>
          <a:p>
            <a:pPr indent="0" marL="0">
              <a:buNone/>
            </a:pPr>
            <a:r>
              <a:rPr lang="en-US" sz="1200" b="1" dirty="0">
                <a:solidFill>
                  <a:srgbClr val="D9E4F5"/>
                </a:solidFill>
                <a:latin typeface="Calibri" pitchFamily="34" charset="0"/>
                <a:ea typeface="Calibri" pitchFamily="34" charset="-122"/>
                <a:cs typeface="Calibri" pitchFamily="34" charset="-120"/>
              </a:rPr>
              <a:t>Tangible Delivery</a:t>
            </a:r>
            <a:endParaRPr lang="en-US" sz="1200" dirty="0"/>
          </a:p>
        </p:txBody>
      </p:sp>
      <p:sp>
        <p:nvSpPr>
          <p:cNvPr id="24" name="Text 22"/>
          <p:cNvSpPr/>
          <p:nvPr/>
        </p:nvSpPr>
        <p:spPr>
          <a:xfrm>
            <a:off x="1216152" y="5678424"/>
            <a:ext cx="10058400" cy="365760"/>
          </a:xfrm>
          <a:prstGeom prst="rect">
            <a:avLst/>
          </a:prstGeom>
          <a:noFill/>
          <a:ln/>
        </p:spPr>
        <p:txBody>
          <a:bodyPr wrap="square" rtlCol="0" anchor="t"/>
          <a:lstStyle/>
          <a:p>
            <a:pPr indent="0" marL="0">
              <a:buNone/>
            </a:pPr>
            <a:r>
              <a:rPr lang="en-US" sz="950" dirty="0">
                <a:solidFill>
                  <a:srgbClr val="8A9DC0"/>
                </a:solidFill>
                <a:latin typeface="Calibri" pitchFamily="34" charset="0"/>
                <a:ea typeface="Calibri" pitchFamily="34" charset="-122"/>
                <a:cs typeface="Calibri" pitchFamily="34" charset="-120"/>
              </a:rPr>
              <a:t>The completed capstone project produces a demonstrable, tangible deliverable: a well-documented GitHub repository with all development artifacts and a clear README that lets anyone reproduce the work — ready to add to the student's portfolio and a proof of expertise built through real experience.</a:t>
            </a:r>
            <a:endParaRPr lang="en-US" sz="950" dirty="0"/>
          </a:p>
        </p:txBody>
      </p:sp>
      <p:sp>
        <p:nvSpPr>
          <p:cNvPr id="25" name="Text 23"/>
          <p:cNvSpPr/>
          <p:nvPr/>
        </p:nvSpPr>
        <p:spPr>
          <a:xfrm>
            <a:off x="457200" y="6601968"/>
            <a:ext cx="11247120" cy="182880"/>
          </a:xfrm>
          <a:prstGeom prst="rect">
            <a:avLst/>
          </a:prstGeom>
          <a:noFill/>
          <a:ln/>
        </p:spPr>
        <p:txBody>
          <a:bodyPr wrap="square" rtlCol="0" anchor="ctr"/>
          <a:lstStyle/>
          <a:p>
            <a:pPr algn="ctr" indent="0" marL="0">
              <a:buNone/>
            </a:pPr>
            <a:r>
              <a:rPr lang="en-US" sz="800" dirty="0">
                <a:solidFill>
                  <a:srgbClr val="5C6E8C"/>
                </a:solidFill>
                <a:latin typeface="Calibri" pitchFamily="34" charset="0"/>
                <a:ea typeface="Calibri" pitchFamily="34" charset="-122"/>
                <a:cs typeface="Calibri" pitchFamily="34" charset="-120"/>
              </a:rPr>
              <a:t>Advanced CS Elective Design Guidelines  ·  Sasha Apartsin  ·  apartsin.com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457200" y="109728"/>
            <a:ext cx="1097280" cy="1371600"/>
          </a:xfrm>
          <a:prstGeom prst="rect">
            <a:avLst/>
          </a:prstGeom>
          <a:noFill/>
          <a:ln/>
        </p:spPr>
        <p:txBody>
          <a:bodyPr wrap="square" lIns="0" tIns="0" rIns="0" bIns="0" rtlCol="0" anchor="t"/>
          <a:lstStyle/>
          <a:p>
            <a:pPr algn="ctr" indent="0" marL="0">
              <a:buNone/>
            </a:pPr>
            <a:r>
              <a:rPr lang="en-US" sz="9000" b="1" dirty="0">
                <a:solidFill>
                  <a:srgbClr val="E8A33A"/>
                </a:solidFill>
                <a:latin typeface="Calibri" pitchFamily="34" charset="0"/>
                <a:ea typeface="Calibri" pitchFamily="34" charset="-122"/>
                <a:cs typeface="Calibri" pitchFamily="34" charset="-120"/>
              </a:rPr>
              <a:t>1</a:t>
            </a:r>
            <a:endParaRPr lang="en-US" sz="9000" dirty="0"/>
          </a:p>
        </p:txBody>
      </p:sp>
      <p:sp>
        <p:nvSpPr>
          <p:cNvPr id="4" name="Text 2"/>
          <p:cNvSpPr/>
          <p:nvPr/>
        </p:nvSpPr>
        <p:spPr>
          <a:xfrm>
            <a:off x="1207008" y="804672"/>
            <a:ext cx="548640" cy="347472"/>
          </a:xfrm>
          <a:prstGeom prst="rect">
            <a:avLst/>
          </a:prstGeom>
          <a:noFill/>
          <a:ln/>
        </p:spPr>
        <p:txBody>
          <a:bodyPr wrap="square" rtlCol="0" anchor="b"/>
          <a:lstStyle/>
          <a:p>
            <a:pPr indent="0" marL="0">
              <a:buNone/>
            </a:pPr>
            <a:r>
              <a:rPr lang="en-US" sz="1300" dirty="0">
                <a:solidFill>
                  <a:srgbClr val="5C6E8C"/>
                </a:solidFill>
                <a:latin typeface="Calibri" pitchFamily="34" charset="0"/>
                <a:ea typeface="Calibri" pitchFamily="34" charset="-122"/>
                <a:cs typeface="Calibri" pitchFamily="34" charset="-120"/>
              </a:rPr>
              <a:t>/ 5</a:t>
            </a:r>
            <a:endParaRPr lang="en-US" sz="1300" dirty="0"/>
          </a:p>
        </p:txBody>
      </p:sp>
      <p:sp>
        <p:nvSpPr>
          <p:cNvPr id="5" name="Text 3"/>
          <p:cNvSpPr/>
          <p:nvPr/>
        </p:nvSpPr>
        <p:spPr>
          <a:xfrm>
            <a:off x="1828800" y="182880"/>
            <a:ext cx="9784080" cy="731520"/>
          </a:xfrm>
          <a:prstGeom prst="rect">
            <a:avLst/>
          </a:prstGeom>
          <a:noFill/>
          <a:ln/>
        </p:spPr>
        <p:txBody>
          <a:bodyPr wrap="square" rtlCol="0" anchor="ctr"/>
          <a:lstStyle/>
          <a:p>
            <a:pPr indent="0" marL="0">
              <a:buNone/>
            </a:pPr>
            <a:r>
              <a:rPr lang="en-US" sz="3000" b="1" dirty="0">
                <a:solidFill>
                  <a:srgbClr val="D9E4F5"/>
                </a:solidFill>
                <a:latin typeface="Calibri" pitchFamily="34" charset="0"/>
                <a:ea typeface="Calibri" pitchFamily="34" charset="-122"/>
                <a:cs typeface="Calibri" pitchFamily="34" charset="-120"/>
              </a:rPr>
              <a:t>Academic Depth</a:t>
            </a:r>
            <a:endParaRPr lang="en-US" sz="3000" dirty="0"/>
          </a:p>
        </p:txBody>
      </p:sp>
      <p:sp>
        <p:nvSpPr>
          <p:cNvPr id="6" name="Text 4"/>
          <p:cNvSpPr/>
          <p:nvPr/>
        </p:nvSpPr>
        <p:spPr>
          <a:xfrm>
            <a:off x="1828800" y="822960"/>
            <a:ext cx="5486400" cy="274320"/>
          </a:xfrm>
          <a:prstGeom prst="rect">
            <a:avLst/>
          </a:prstGeom>
          <a:noFill/>
          <a:ln/>
        </p:spPr>
        <p:txBody>
          <a:bodyPr wrap="square" rtlCol="0" anchor="ctr"/>
          <a:lstStyle/>
          <a:p>
            <a:pPr indent="0" marL="0">
              <a:buNone/>
            </a:pPr>
            <a:r>
              <a:rPr lang="en-US" sz="1000" spc="300" kern="0" dirty="0">
                <a:solidFill>
                  <a:srgbClr val="5C6E8C"/>
                </a:solidFill>
                <a:latin typeface="Calibri" pitchFamily="34" charset="0"/>
                <a:ea typeface="Calibri" pitchFamily="34" charset="-122"/>
                <a:cs typeface="Calibri" pitchFamily="34" charset="-120"/>
              </a:rPr>
              <a:t>Principle 1</a:t>
            </a:r>
            <a:endParaRPr lang="en-US" sz="1000" dirty="0"/>
          </a:p>
        </p:txBody>
      </p:sp>
      <p:sp>
        <p:nvSpPr>
          <p:cNvPr id="7" name="Shape 5"/>
          <p:cNvSpPr/>
          <p:nvPr/>
        </p:nvSpPr>
        <p:spPr>
          <a:xfrm>
            <a:off x="502920" y="1261872"/>
            <a:ext cx="11155680" cy="0"/>
          </a:xfrm>
          <a:prstGeom prst="line">
            <a:avLst/>
          </a:prstGeom>
          <a:noFill/>
          <a:ln w="12700">
            <a:solidFill>
              <a:srgbClr val="253555"/>
            </a:solidFill>
            <a:prstDash val="solid"/>
          </a:ln>
        </p:spPr>
      </p:sp>
      <p:sp>
        <p:nvSpPr>
          <p:cNvPr id="8" name="Text 6"/>
          <p:cNvSpPr/>
          <p:nvPr/>
        </p:nvSpPr>
        <p:spPr>
          <a:xfrm>
            <a:off x="502920" y="1389888"/>
            <a:ext cx="11155680" cy="1417320"/>
          </a:xfrm>
          <a:prstGeom prst="rect">
            <a:avLst/>
          </a:prstGeom>
          <a:noFill/>
          <a:ln/>
        </p:spPr>
        <p:txBody>
          <a:bodyPr wrap="square" rtlCol="0" anchor="t"/>
          <a:lstStyle/>
          <a:p>
            <a:pPr indent="0" marL="0">
              <a:lnSpc>
                <a:spcPct val="145000"/>
              </a:lnSpc>
              <a:buNone/>
            </a:pPr>
            <a:r>
              <a:rPr lang="en-US" sz="1500" dirty="0">
                <a:solidFill>
                  <a:srgbClr val="D9E4F5"/>
                </a:solidFill>
                <a:latin typeface="Calibri" pitchFamily="34" charset="0"/>
                <a:ea typeface="Calibri" pitchFamily="34" charset="-122"/>
                <a:cs typeface="Calibri" pitchFamily="34" charset="-120"/>
              </a:rPr>
              <a:t>Provide academic depth through advanced scientific and engineering concepts, with enough rigor in models, algorithms, and design principles.</a:t>
            </a:r>
            <a:endParaRPr lang="en-US" sz="1500" dirty="0"/>
          </a:p>
        </p:txBody>
      </p:sp>
      <p:sp>
        <p:nvSpPr>
          <p:cNvPr id="9" name="Shape 7"/>
          <p:cNvSpPr/>
          <p:nvPr/>
        </p:nvSpPr>
        <p:spPr>
          <a:xfrm>
            <a:off x="502920" y="2926080"/>
            <a:ext cx="11155680" cy="1508760"/>
          </a:xfrm>
          <a:prstGeom prst="roundRect">
            <a:avLst>
              <a:gd name="adj" fmla="val 6061"/>
            </a:avLst>
          </a:prstGeom>
          <a:solidFill>
            <a:srgbClr val="192840"/>
          </a:solidFill>
          <a:ln w="12700">
            <a:solidFill>
              <a:srgbClr val="4FC8E8"/>
            </a:solidFill>
            <a:prstDash val="solid"/>
          </a:ln>
        </p:spPr>
      </p:sp>
      <p:sp>
        <p:nvSpPr>
          <p:cNvPr id="10" name="Text 8"/>
          <p:cNvSpPr/>
          <p:nvPr/>
        </p:nvSpPr>
        <p:spPr>
          <a:xfrm>
            <a:off x="685800" y="2999232"/>
            <a:ext cx="10789920" cy="1371600"/>
          </a:xfrm>
          <a:prstGeom prst="rect">
            <a:avLst/>
          </a:prstGeom>
          <a:noFill/>
          <a:ln/>
        </p:spPr>
        <p:txBody>
          <a:bodyPr wrap="square" rtlCol="0" anchor="t"/>
          <a:lstStyle/>
          <a:p>
            <a:pPr indent="0" marL="0">
              <a:lnSpc>
                <a:spcPct val="145000"/>
              </a:lnSpc>
              <a:buNone/>
            </a:pPr>
            <a:r>
              <a:rPr lang="en-US" sz="1200" b="1" dirty="0">
                <a:solidFill>
                  <a:srgbClr val="4FC8E8"/>
                </a:solidFill>
                <a:latin typeface="Calibri" pitchFamily="34" charset="0"/>
                <a:ea typeface="Calibri" pitchFamily="34" charset="-122"/>
                <a:cs typeface="Calibri" pitchFamily="34" charset="-120"/>
              </a:rPr>
              <a:t>In the syllabus: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syllabus should specifically list the scientific concepts, models, algorithms, engineering principles, architectures, and design practices that will be studied.</a:t>
            </a:r>
            <a:endParaRPr lang="en-US" sz="1200" dirty="0"/>
          </a:p>
        </p:txBody>
      </p:sp>
      <p:sp>
        <p:nvSpPr>
          <p:cNvPr id="11" name="Shape 9"/>
          <p:cNvSpPr/>
          <p:nvPr/>
        </p:nvSpPr>
        <p:spPr>
          <a:xfrm>
            <a:off x="502920" y="4590288"/>
            <a:ext cx="11155680" cy="1371600"/>
          </a:xfrm>
          <a:prstGeom prst="roundRect">
            <a:avLst>
              <a:gd name="adj" fmla="val 6667"/>
            </a:avLst>
          </a:prstGeom>
          <a:solidFill>
            <a:srgbClr val="192840"/>
          </a:solidFill>
          <a:ln w="12700">
            <a:solidFill>
              <a:srgbClr val="E8595A"/>
            </a:solidFill>
            <a:prstDash val="solid"/>
          </a:ln>
        </p:spPr>
      </p:sp>
      <p:sp>
        <p:nvSpPr>
          <p:cNvPr id="12" name="Text 10"/>
          <p:cNvSpPr/>
          <p:nvPr/>
        </p:nvSpPr>
        <p:spPr>
          <a:xfrm>
            <a:off x="685800" y="4663440"/>
            <a:ext cx="10789920" cy="1234440"/>
          </a:xfrm>
          <a:prstGeom prst="rect">
            <a:avLst/>
          </a:prstGeom>
          <a:noFill/>
          <a:ln/>
        </p:spPr>
        <p:txBody>
          <a:bodyPr wrap="square" rtlCol="0" anchor="t"/>
          <a:lstStyle/>
          <a:p>
            <a:pPr indent="0" marL="0">
              <a:lnSpc>
                <a:spcPct val="145000"/>
              </a:lnSpc>
              <a:buNone/>
            </a:pPr>
            <a:r>
              <a:rPr lang="en-US" sz="1200" b="1" dirty="0">
                <a:solidFill>
                  <a:srgbClr val="E8595A"/>
                </a:solidFill>
                <a:latin typeface="Calibri" pitchFamily="34" charset="0"/>
                <a:ea typeface="Calibri" pitchFamily="34" charset="-122"/>
                <a:cs typeface="Calibri" pitchFamily="34" charset="-120"/>
              </a:rPr>
              <a:t>Common risk: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course may become tool-driven, with platforms and demos taking priority over the underlying scientific and engineering ideas.</a:t>
            </a:r>
            <a:endParaRPr lang="en-US" sz="1200" dirty="0"/>
          </a:p>
        </p:txBody>
      </p:sp>
      <p:sp>
        <p:nvSpPr>
          <p:cNvPr id="13" name="Text 11"/>
          <p:cNvSpPr/>
          <p:nvPr/>
        </p:nvSpPr>
        <p:spPr>
          <a:xfrm>
            <a:off x="457200" y="6601968"/>
            <a:ext cx="11247120" cy="182880"/>
          </a:xfrm>
          <a:prstGeom prst="rect">
            <a:avLst/>
          </a:prstGeom>
          <a:noFill/>
          <a:ln/>
        </p:spPr>
        <p:txBody>
          <a:bodyPr wrap="square" rtlCol="0" anchor="ctr"/>
          <a:lstStyle/>
          <a:p>
            <a:pPr algn="ctr" indent="0" marL="0">
              <a:buNone/>
            </a:pPr>
            <a:r>
              <a:rPr lang="en-US" sz="800" dirty="0">
                <a:solidFill>
                  <a:srgbClr val="5C6E8C"/>
                </a:solidFill>
                <a:latin typeface="Calibri" pitchFamily="34" charset="0"/>
                <a:ea typeface="Calibri" pitchFamily="34" charset="-122"/>
                <a:cs typeface="Calibri" pitchFamily="34" charset="-120"/>
              </a:rPr>
              <a:t>Advanced CS Elective Design Guidelines  ·  Sasha Apartsin  ·  apartsin.com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457200" y="109728"/>
            <a:ext cx="1097280" cy="1371600"/>
          </a:xfrm>
          <a:prstGeom prst="rect">
            <a:avLst/>
          </a:prstGeom>
          <a:noFill/>
          <a:ln/>
        </p:spPr>
        <p:txBody>
          <a:bodyPr wrap="square" lIns="0" tIns="0" rIns="0" bIns="0" rtlCol="0" anchor="t"/>
          <a:lstStyle/>
          <a:p>
            <a:pPr algn="ctr" indent="0" marL="0">
              <a:buNone/>
            </a:pPr>
            <a:r>
              <a:rPr lang="en-US" sz="9000" b="1" dirty="0">
                <a:solidFill>
                  <a:srgbClr val="E8A33A"/>
                </a:solidFill>
                <a:latin typeface="Calibri" pitchFamily="34" charset="0"/>
                <a:ea typeface="Calibri" pitchFamily="34" charset="-122"/>
                <a:cs typeface="Calibri" pitchFamily="34" charset="-120"/>
              </a:rPr>
              <a:t>2</a:t>
            </a:r>
            <a:endParaRPr lang="en-US" sz="9000" dirty="0"/>
          </a:p>
        </p:txBody>
      </p:sp>
      <p:sp>
        <p:nvSpPr>
          <p:cNvPr id="4" name="Text 2"/>
          <p:cNvSpPr/>
          <p:nvPr/>
        </p:nvSpPr>
        <p:spPr>
          <a:xfrm>
            <a:off x="1207008" y="804672"/>
            <a:ext cx="548640" cy="347472"/>
          </a:xfrm>
          <a:prstGeom prst="rect">
            <a:avLst/>
          </a:prstGeom>
          <a:noFill/>
          <a:ln/>
        </p:spPr>
        <p:txBody>
          <a:bodyPr wrap="square" rtlCol="0" anchor="b"/>
          <a:lstStyle/>
          <a:p>
            <a:pPr indent="0" marL="0">
              <a:buNone/>
            </a:pPr>
            <a:r>
              <a:rPr lang="en-US" sz="1300" dirty="0">
                <a:solidFill>
                  <a:srgbClr val="5C6E8C"/>
                </a:solidFill>
                <a:latin typeface="Calibri" pitchFamily="34" charset="0"/>
                <a:ea typeface="Calibri" pitchFamily="34" charset="-122"/>
                <a:cs typeface="Calibri" pitchFamily="34" charset="-120"/>
              </a:rPr>
              <a:t>/ 5</a:t>
            </a:r>
            <a:endParaRPr lang="en-US" sz="1300" dirty="0"/>
          </a:p>
        </p:txBody>
      </p:sp>
      <p:sp>
        <p:nvSpPr>
          <p:cNvPr id="5" name="Text 3"/>
          <p:cNvSpPr/>
          <p:nvPr/>
        </p:nvSpPr>
        <p:spPr>
          <a:xfrm>
            <a:off x="1828800" y="182880"/>
            <a:ext cx="9784080" cy="731520"/>
          </a:xfrm>
          <a:prstGeom prst="rect">
            <a:avLst/>
          </a:prstGeom>
          <a:noFill/>
          <a:ln/>
        </p:spPr>
        <p:txBody>
          <a:bodyPr wrap="square" rtlCol="0" anchor="ctr"/>
          <a:lstStyle/>
          <a:p>
            <a:pPr indent="0" marL="0">
              <a:buNone/>
            </a:pPr>
            <a:r>
              <a:rPr lang="en-US" sz="3000" b="1" dirty="0">
                <a:solidFill>
                  <a:srgbClr val="D9E4F5"/>
                </a:solidFill>
                <a:latin typeface="Calibri" pitchFamily="34" charset="0"/>
                <a:ea typeface="Calibri" pitchFamily="34" charset="-122"/>
                <a:cs typeface="Calibri" pitchFamily="34" charset="-120"/>
              </a:rPr>
              <a:t>Industry Relevance</a:t>
            </a:r>
            <a:endParaRPr lang="en-US" sz="3000" dirty="0"/>
          </a:p>
        </p:txBody>
      </p:sp>
      <p:sp>
        <p:nvSpPr>
          <p:cNvPr id="6" name="Text 4"/>
          <p:cNvSpPr/>
          <p:nvPr/>
        </p:nvSpPr>
        <p:spPr>
          <a:xfrm>
            <a:off x="1828800" y="822960"/>
            <a:ext cx="5486400" cy="274320"/>
          </a:xfrm>
          <a:prstGeom prst="rect">
            <a:avLst/>
          </a:prstGeom>
          <a:noFill/>
          <a:ln/>
        </p:spPr>
        <p:txBody>
          <a:bodyPr wrap="square" rtlCol="0" anchor="ctr"/>
          <a:lstStyle/>
          <a:p>
            <a:pPr indent="0" marL="0">
              <a:buNone/>
            </a:pPr>
            <a:r>
              <a:rPr lang="en-US" sz="1000" spc="300" kern="0" dirty="0">
                <a:solidFill>
                  <a:srgbClr val="5C6E8C"/>
                </a:solidFill>
                <a:latin typeface="Calibri" pitchFamily="34" charset="0"/>
                <a:ea typeface="Calibri" pitchFamily="34" charset="-122"/>
                <a:cs typeface="Calibri" pitchFamily="34" charset="-120"/>
              </a:rPr>
              <a:t>Principle 2</a:t>
            </a:r>
            <a:endParaRPr lang="en-US" sz="1000" dirty="0"/>
          </a:p>
        </p:txBody>
      </p:sp>
      <p:sp>
        <p:nvSpPr>
          <p:cNvPr id="7" name="Shape 5"/>
          <p:cNvSpPr/>
          <p:nvPr/>
        </p:nvSpPr>
        <p:spPr>
          <a:xfrm>
            <a:off x="502920" y="1261872"/>
            <a:ext cx="11155680" cy="0"/>
          </a:xfrm>
          <a:prstGeom prst="line">
            <a:avLst/>
          </a:prstGeom>
          <a:noFill/>
          <a:ln w="12700">
            <a:solidFill>
              <a:srgbClr val="253555"/>
            </a:solidFill>
            <a:prstDash val="solid"/>
          </a:ln>
        </p:spPr>
      </p:sp>
      <p:sp>
        <p:nvSpPr>
          <p:cNvPr id="8" name="Text 6"/>
          <p:cNvSpPr/>
          <p:nvPr/>
        </p:nvSpPr>
        <p:spPr>
          <a:xfrm>
            <a:off x="502920" y="1389888"/>
            <a:ext cx="11155680" cy="1417320"/>
          </a:xfrm>
          <a:prstGeom prst="rect">
            <a:avLst/>
          </a:prstGeom>
          <a:noFill/>
          <a:ln/>
        </p:spPr>
        <p:txBody>
          <a:bodyPr wrap="square" rtlCol="0" anchor="t"/>
          <a:lstStyle/>
          <a:p>
            <a:pPr indent="0" marL="0">
              <a:lnSpc>
                <a:spcPct val="145000"/>
              </a:lnSpc>
              <a:buNone/>
            </a:pPr>
            <a:r>
              <a:rPr lang="en-US" sz="1500" dirty="0">
                <a:solidFill>
                  <a:srgbClr val="D9E4F5"/>
                </a:solidFill>
                <a:latin typeface="Calibri" pitchFamily="34" charset="0"/>
                <a:ea typeface="Calibri" pitchFamily="34" charset="-122"/>
                <a:cs typeface="Calibri" pitchFamily="34" charset="-120"/>
              </a:rPr>
              <a:t>Ensure industry relevance by exposing students to modern tools, frameworks, libraries, datasets, and development environments used in professional practice.</a:t>
            </a:r>
            <a:endParaRPr lang="en-US" sz="1500" dirty="0"/>
          </a:p>
        </p:txBody>
      </p:sp>
      <p:sp>
        <p:nvSpPr>
          <p:cNvPr id="9" name="Shape 7"/>
          <p:cNvSpPr/>
          <p:nvPr/>
        </p:nvSpPr>
        <p:spPr>
          <a:xfrm>
            <a:off x="502920" y="2926080"/>
            <a:ext cx="11155680" cy="1508760"/>
          </a:xfrm>
          <a:prstGeom prst="roundRect">
            <a:avLst>
              <a:gd name="adj" fmla="val 6061"/>
            </a:avLst>
          </a:prstGeom>
          <a:solidFill>
            <a:srgbClr val="192840"/>
          </a:solidFill>
          <a:ln w="12700">
            <a:solidFill>
              <a:srgbClr val="4FC8E8"/>
            </a:solidFill>
            <a:prstDash val="solid"/>
          </a:ln>
        </p:spPr>
      </p:sp>
      <p:sp>
        <p:nvSpPr>
          <p:cNvPr id="10" name="Text 8"/>
          <p:cNvSpPr/>
          <p:nvPr/>
        </p:nvSpPr>
        <p:spPr>
          <a:xfrm>
            <a:off x="685800" y="2999232"/>
            <a:ext cx="10789920" cy="1371600"/>
          </a:xfrm>
          <a:prstGeom prst="rect">
            <a:avLst/>
          </a:prstGeom>
          <a:noFill/>
          <a:ln/>
        </p:spPr>
        <p:txBody>
          <a:bodyPr wrap="square" rtlCol="0" anchor="t"/>
          <a:lstStyle/>
          <a:p>
            <a:pPr indent="0" marL="0">
              <a:lnSpc>
                <a:spcPct val="145000"/>
              </a:lnSpc>
              <a:buNone/>
            </a:pPr>
            <a:r>
              <a:rPr lang="en-US" sz="1200" b="1" dirty="0">
                <a:solidFill>
                  <a:srgbClr val="4FC8E8"/>
                </a:solidFill>
                <a:latin typeface="Calibri" pitchFamily="34" charset="0"/>
                <a:ea typeface="Calibri" pitchFamily="34" charset="-122"/>
                <a:cs typeface="Calibri" pitchFamily="34" charset="-120"/>
              </a:rPr>
              <a:t>In the syllabus: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syllabus should name the specific tools, frameworks, libraries, datasets, and development environments students will use, and the professional practices they will apply.</a:t>
            </a:r>
            <a:endParaRPr lang="en-US" sz="1200" dirty="0"/>
          </a:p>
        </p:txBody>
      </p:sp>
      <p:sp>
        <p:nvSpPr>
          <p:cNvPr id="11" name="Shape 9"/>
          <p:cNvSpPr/>
          <p:nvPr/>
        </p:nvSpPr>
        <p:spPr>
          <a:xfrm>
            <a:off x="502920" y="4590288"/>
            <a:ext cx="11155680" cy="1371600"/>
          </a:xfrm>
          <a:prstGeom prst="roundRect">
            <a:avLst>
              <a:gd name="adj" fmla="val 6667"/>
            </a:avLst>
          </a:prstGeom>
          <a:solidFill>
            <a:srgbClr val="192840"/>
          </a:solidFill>
          <a:ln w="12700">
            <a:solidFill>
              <a:srgbClr val="E8595A"/>
            </a:solidFill>
            <a:prstDash val="solid"/>
          </a:ln>
        </p:spPr>
      </p:sp>
      <p:sp>
        <p:nvSpPr>
          <p:cNvPr id="12" name="Text 10"/>
          <p:cNvSpPr/>
          <p:nvPr/>
        </p:nvSpPr>
        <p:spPr>
          <a:xfrm>
            <a:off x="685800" y="4663440"/>
            <a:ext cx="10789920" cy="1234440"/>
          </a:xfrm>
          <a:prstGeom prst="rect">
            <a:avLst/>
          </a:prstGeom>
          <a:noFill/>
          <a:ln/>
        </p:spPr>
        <p:txBody>
          <a:bodyPr wrap="square" rtlCol="0" anchor="t"/>
          <a:lstStyle/>
          <a:p>
            <a:pPr indent="0" marL="0">
              <a:lnSpc>
                <a:spcPct val="145000"/>
              </a:lnSpc>
              <a:buNone/>
            </a:pPr>
            <a:r>
              <a:rPr lang="en-US" sz="1200" b="1" dirty="0">
                <a:solidFill>
                  <a:srgbClr val="E8595A"/>
                </a:solidFill>
                <a:latin typeface="Calibri" pitchFamily="34" charset="0"/>
                <a:ea typeface="Calibri" pitchFamily="34" charset="-122"/>
                <a:cs typeface="Calibri" pitchFamily="34" charset="-120"/>
              </a:rPr>
              <a:t>Common risk: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course may rely on outdated tools or remain too theoretical to prepare students for contemporary engineering work.</a:t>
            </a:r>
            <a:endParaRPr lang="en-US" sz="1200" dirty="0"/>
          </a:p>
        </p:txBody>
      </p:sp>
      <p:sp>
        <p:nvSpPr>
          <p:cNvPr id="13" name="Text 11"/>
          <p:cNvSpPr/>
          <p:nvPr/>
        </p:nvSpPr>
        <p:spPr>
          <a:xfrm>
            <a:off x="457200" y="6601968"/>
            <a:ext cx="11247120" cy="182880"/>
          </a:xfrm>
          <a:prstGeom prst="rect">
            <a:avLst/>
          </a:prstGeom>
          <a:noFill/>
          <a:ln/>
        </p:spPr>
        <p:txBody>
          <a:bodyPr wrap="square" rtlCol="0" anchor="ctr"/>
          <a:lstStyle/>
          <a:p>
            <a:pPr algn="ctr" indent="0" marL="0">
              <a:buNone/>
            </a:pPr>
            <a:r>
              <a:rPr lang="en-US" sz="800" dirty="0">
                <a:solidFill>
                  <a:srgbClr val="5C6E8C"/>
                </a:solidFill>
                <a:latin typeface="Calibri" pitchFamily="34" charset="0"/>
                <a:ea typeface="Calibri" pitchFamily="34" charset="-122"/>
                <a:cs typeface="Calibri" pitchFamily="34" charset="-120"/>
              </a:rPr>
              <a:t>Advanced CS Elective Design Guidelines  ·  Sasha Apartsin  ·  apartsin.com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457200" y="109728"/>
            <a:ext cx="1097280" cy="1371600"/>
          </a:xfrm>
          <a:prstGeom prst="rect">
            <a:avLst/>
          </a:prstGeom>
          <a:noFill/>
          <a:ln/>
        </p:spPr>
        <p:txBody>
          <a:bodyPr wrap="square" lIns="0" tIns="0" rIns="0" bIns="0" rtlCol="0" anchor="t"/>
          <a:lstStyle/>
          <a:p>
            <a:pPr algn="ctr" indent="0" marL="0">
              <a:buNone/>
            </a:pPr>
            <a:r>
              <a:rPr lang="en-US" sz="9000" b="1" dirty="0">
                <a:solidFill>
                  <a:srgbClr val="E8A33A"/>
                </a:solidFill>
                <a:latin typeface="Calibri" pitchFamily="34" charset="0"/>
                <a:ea typeface="Calibri" pitchFamily="34" charset="-122"/>
                <a:cs typeface="Calibri" pitchFamily="34" charset="-120"/>
              </a:rPr>
              <a:t>3</a:t>
            </a:r>
            <a:endParaRPr lang="en-US" sz="9000" dirty="0"/>
          </a:p>
        </p:txBody>
      </p:sp>
      <p:sp>
        <p:nvSpPr>
          <p:cNvPr id="4" name="Text 2"/>
          <p:cNvSpPr/>
          <p:nvPr/>
        </p:nvSpPr>
        <p:spPr>
          <a:xfrm>
            <a:off x="1207008" y="804672"/>
            <a:ext cx="548640" cy="347472"/>
          </a:xfrm>
          <a:prstGeom prst="rect">
            <a:avLst/>
          </a:prstGeom>
          <a:noFill/>
          <a:ln/>
        </p:spPr>
        <p:txBody>
          <a:bodyPr wrap="square" rtlCol="0" anchor="b"/>
          <a:lstStyle/>
          <a:p>
            <a:pPr indent="0" marL="0">
              <a:buNone/>
            </a:pPr>
            <a:r>
              <a:rPr lang="en-US" sz="1300" dirty="0">
                <a:solidFill>
                  <a:srgbClr val="5C6E8C"/>
                </a:solidFill>
                <a:latin typeface="Calibri" pitchFamily="34" charset="0"/>
                <a:ea typeface="Calibri" pitchFamily="34" charset="-122"/>
                <a:cs typeface="Calibri" pitchFamily="34" charset="-120"/>
              </a:rPr>
              <a:t>/ 5</a:t>
            </a:r>
            <a:endParaRPr lang="en-US" sz="1300" dirty="0"/>
          </a:p>
        </p:txBody>
      </p:sp>
      <p:sp>
        <p:nvSpPr>
          <p:cNvPr id="5" name="Text 3"/>
          <p:cNvSpPr/>
          <p:nvPr/>
        </p:nvSpPr>
        <p:spPr>
          <a:xfrm>
            <a:off x="1828800" y="182880"/>
            <a:ext cx="9784080" cy="731520"/>
          </a:xfrm>
          <a:prstGeom prst="rect">
            <a:avLst/>
          </a:prstGeom>
          <a:noFill/>
          <a:ln/>
        </p:spPr>
        <p:txBody>
          <a:bodyPr wrap="square" rtlCol="0" anchor="ctr"/>
          <a:lstStyle/>
          <a:p>
            <a:pPr indent="0" marL="0">
              <a:buNone/>
            </a:pPr>
            <a:r>
              <a:rPr lang="en-US" sz="3000" b="1" dirty="0">
                <a:solidFill>
                  <a:srgbClr val="D9E4F5"/>
                </a:solidFill>
                <a:latin typeface="Calibri" pitchFamily="34" charset="0"/>
                <a:ea typeface="Calibri" pitchFamily="34" charset="-122"/>
                <a:cs typeface="Calibri" pitchFamily="34" charset="-120"/>
              </a:rPr>
              <a:t>Subject Consolidation</a:t>
            </a:r>
            <a:endParaRPr lang="en-US" sz="3000" dirty="0"/>
          </a:p>
        </p:txBody>
      </p:sp>
      <p:sp>
        <p:nvSpPr>
          <p:cNvPr id="6" name="Text 4"/>
          <p:cNvSpPr/>
          <p:nvPr/>
        </p:nvSpPr>
        <p:spPr>
          <a:xfrm>
            <a:off x="1828800" y="822960"/>
            <a:ext cx="5486400" cy="274320"/>
          </a:xfrm>
          <a:prstGeom prst="rect">
            <a:avLst/>
          </a:prstGeom>
          <a:noFill/>
          <a:ln/>
        </p:spPr>
        <p:txBody>
          <a:bodyPr wrap="square" rtlCol="0" anchor="ctr"/>
          <a:lstStyle/>
          <a:p>
            <a:pPr indent="0" marL="0">
              <a:buNone/>
            </a:pPr>
            <a:r>
              <a:rPr lang="en-US" sz="1000" spc="300" kern="0" dirty="0">
                <a:solidFill>
                  <a:srgbClr val="5C6E8C"/>
                </a:solidFill>
                <a:latin typeface="Calibri" pitchFamily="34" charset="0"/>
                <a:ea typeface="Calibri" pitchFamily="34" charset="-122"/>
                <a:cs typeface="Calibri" pitchFamily="34" charset="-120"/>
              </a:rPr>
              <a:t>Principle 3</a:t>
            </a:r>
            <a:endParaRPr lang="en-US" sz="1000" dirty="0"/>
          </a:p>
        </p:txBody>
      </p:sp>
      <p:sp>
        <p:nvSpPr>
          <p:cNvPr id="7" name="Shape 5"/>
          <p:cNvSpPr/>
          <p:nvPr/>
        </p:nvSpPr>
        <p:spPr>
          <a:xfrm>
            <a:off x="502920" y="1261872"/>
            <a:ext cx="11155680" cy="0"/>
          </a:xfrm>
          <a:prstGeom prst="line">
            <a:avLst/>
          </a:prstGeom>
          <a:noFill/>
          <a:ln w="12700">
            <a:solidFill>
              <a:srgbClr val="253555"/>
            </a:solidFill>
            <a:prstDash val="solid"/>
          </a:ln>
        </p:spPr>
      </p:sp>
      <p:sp>
        <p:nvSpPr>
          <p:cNvPr id="8" name="Text 6"/>
          <p:cNvSpPr/>
          <p:nvPr/>
        </p:nvSpPr>
        <p:spPr>
          <a:xfrm>
            <a:off x="502920" y="1389888"/>
            <a:ext cx="11155680" cy="1417320"/>
          </a:xfrm>
          <a:prstGeom prst="rect">
            <a:avLst/>
          </a:prstGeom>
          <a:noFill/>
          <a:ln/>
        </p:spPr>
        <p:txBody>
          <a:bodyPr wrap="square" rtlCol="0" anchor="t"/>
          <a:lstStyle/>
          <a:p>
            <a:pPr indent="0" marL="0">
              <a:lnSpc>
                <a:spcPct val="145000"/>
              </a:lnSpc>
              <a:buNone/>
            </a:pPr>
            <a:r>
              <a:rPr lang="en-US" sz="1500" dirty="0">
                <a:solidFill>
                  <a:srgbClr val="D9E4F5"/>
                </a:solidFill>
                <a:latin typeface="Calibri" pitchFamily="34" charset="0"/>
                <a:ea typeface="Calibri" pitchFamily="34" charset="-122"/>
                <a:cs typeface="Calibri" pitchFamily="34" charset="-120"/>
              </a:rPr>
              <a:t>Consolidate related topics into one broad but deep course, so students leave with the complete toolbox needed to build sophisticated, realistic systems — within the same credit budget.</a:t>
            </a:r>
            <a:endParaRPr lang="en-US" sz="1500" dirty="0"/>
          </a:p>
        </p:txBody>
      </p:sp>
      <p:sp>
        <p:nvSpPr>
          <p:cNvPr id="9" name="Shape 7"/>
          <p:cNvSpPr/>
          <p:nvPr/>
        </p:nvSpPr>
        <p:spPr>
          <a:xfrm>
            <a:off x="502920" y="2926080"/>
            <a:ext cx="11155680" cy="1508760"/>
          </a:xfrm>
          <a:prstGeom prst="roundRect">
            <a:avLst>
              <a:gd name="adj" fmla="val 6061"/>
            </a:avLst>
          </a:prstGeom>
          <a:solidFill>
            <a:srgbClr val="192840"/>
          </a:solidFill>
          <a:ln w="12700">
            <a:solidFill>
              <a:srgbClr val="4FC8E8"/>
            </a:solidFill>
            <a:prstDash val="solid"/>
          </a:ln>
        </p:spPr>
      </p:sp>
      <p:sp>
        <p:nvSpPr>
          <p:cNvPr id="10" name="Text 8"/>
          <p:cNvSpPr/>
          <p:nvPr/>
        </p:nvSpPr>
        <p:spPr>
          <a:xfrm>
            <a:off x="685800" y="2999232"/>
            <a:ext cx="10789920" cy="1371600"/>
          </a:xfrm>
          <a:prstGeom prst="rect">
            <a:avLst/>
          </a:prstGeom>
          <a:noFill/>
          <a:ln/>
        </p:spPr>
        <p:txBody>
          <a:bodyPr wrap="square" rtlCol="0" anchor="t"/>
          <a:lstStyle/>
          <a:p>
            <a:pPr indent="0" marL="0">
              <a:lnSpc>
                <a:spcPct val="145000"/>
              </a:lnSpc>
              <a:buNone/>
            </a:pPr>
            <a:r>
              <a:rPr lang="en-US" sz="1200" b="1" dirty="0">
                <a:solidFill>
                  <a:srgbClr val="4FC8E8"/>
                </a:solidFill>
                <a:latin typeface="Calibri" pitchFamily="34" charset="0"/>
                <a:ea typeface="Calibri" pitchFamily="34" charset="-122"/>
                <a:cs typeface="Calibri" pitchFamily="34" charset="-120"/>
              </a:rPr>
              <a:t>In the syllabus: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syllabus should map the full range of topics into one coherent progression, show how they combine into the toolbox the target systems demand, and note which adjacent courses it subsumes.</a:t>
            </a:r>
            <a:endParaRPr lang="en-US" sz="1200" dirty="0"/>
          </a:p>
        </p:txBody>
      </p:sp>
      <p:sp>
        <p:nvSpPr>
          <p:cNvPr id="11" name="Shape 9"/>
          <p:cNvSpPr/>
          <p:nvPr/>
        </p:nvSpPr>
        <p:spPr>
          <a:xfrm>
            <a:off x="502920" y="4590288"/>
            <a:ext cx="11155680" cy="1371600"/>
          </a:xfrm>
          <a:prstGeom prst="roundRect">
            <a:avLst>
              <a:gd name="adj" fmla="val 6667"/>
            </a:avLst>
          </a:prstGeom>
          <a:solidFill>
            <a:srgbClr val="192840"/>
          </a:solidFill>
          <a:ln w="12700">
            <a:solidFill>
              <a:srgbClr val="E8595A"/>
            </a:solidFill>
            <a:prstDash val="solid"/>
          </a:ln>
        </p:spPr>
      </p:sp>
      <p:sp>
        <p:nvSpPr>
          <p:cNvPr id="12" name="Text 10"/>
          <p:cNvSpPr/>
          <p:nvPr/>
        </p:nvSpPr>
        <p:spPr>
          <a:xfrm>
            <a:off x="685800" y="4663440"/>
            <a:ext cx="10789920" cy="1234440"/>
          </a:xfrm>
          <a:prstGeom prst="rect">
            <a:avLst/>
          </a:prstGeom>
          <a:noFill/>
          <a:ln/>
        </p:spPr>
        <p:txBody>
          <a:bodyPr wrap="square" rtlCol="0" anchor="t"/>
          <a:lstStyle/>
          <a:p>
            <a:pPr indent="0" marL="0">
              <a:lnSpc>
                <a:spcPct val="145000"/>
              </a:lnSpc>
              <a:buNone/>
            </a:pPr>
            <a:r>
              <a:rPr lang="en-US" sz="1200" b="1" dirty="0">
                <a:solidFill>
                  <a:srgbClr val="E8595A"/>
                </a:solidFill>
                <a:latin typeface="Calibri" pitchFamily="34" charset="0"/>
                <a:ea typeface="Calibri" pitchFamily="34" charset="-122"/>
                <a:cs typeface="Calibri" pitchFamily="34" charset="-120"/>
              </a:rPr>
              <a:t>Common risk: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curriculum may fragment into many narrow electives, leaving students without the complete toolbox needed to build realistic, sophisticated systems within their credit budget.</a:t>
            </a:r>
            <a:endParaRPr lang="en-US" sz="1200" dirty="0"/>
          </a:p>
        </p:txBody>
      </p:sp>
      <p:sp>
        <p:nvSpPr>
          <p:cNvPr id="13" name="Text 11"/>
          <p:cNvSpPr/>
          <p:nvPr/>
        </p:nvSpPr>
        <p:spPr>
          <a:xfrm>
            <a:off x="457200" y="6601968"/>
            <a:ext cx="11247120" cy="182880"/>
          </a:xfrm>
          <a:prstGeom prst="rect">
            <a:avLst/>
          </a:prstGeom>
          <a:noFill/>
          <a:ln/>
        </p:spPr>
        <p:txBody>
          <a:bodyPr wrap="square" rtlCol="0" anchor="ctr"/>
          <a:lstStyle/>
          <a:p>
            <a:pPr algn="ctr" indent="0" marL="0">
              <a:buNone/>
            </a:pPr>
            <a:r>
              <a:rPr lang="en-US" sz="800" dirty="0">
                <a:solidFill>
                  <a:srgbClr val="5C6E8C"/>
                </a:solidFill>
                <a:latin typeface="Calibri" pitchFamily="34" charset="0"/>
                <a:ea typeface="Calibri" pitchFamily="34" charset="-122"/>
                <a:cs typeface="Calibri" pitchFamily="34" charset="-120"/>
              </a:rPr>
              <a:t>Advanced CS Elective Design Guidelines  ·  Sasha Apartsin  ·  apartsin.com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457200" y="109728"/>
            <a:ext cx="1097280" cy="1371600"/>
          </a:xfrm>
          <a:prstGeom prst="rect">
            <a:avLst/>
          </a:prstGeom>
          <a:noFill/>
          <a:ln/>
        </p:spPr>
        <p:txBody>
          <a:bodyPr wrap="square" lIns="0" tIns="0" rIns="0" bIns="0" rtlCol="0" anchor="t"/>
          <a:lstStyle/>
          <a:p>
            <a:pPr algn="ctr" indent="0" marL="0">
              <a:buNone/>
            </a:pPr>
            <a:r>
              <a:rPr lang="en-US" sz="9000" b="1" dirty="0">
                <a:solidFill>
                  <a:srgbClr val="E8A33A"/>
                </a:solidFill>
                <a:latin typeface="Calibri" pitchFamily="34" charset="0"/>
                <a:ea typeface="Calibri" pitchFamily="34" charset="-122"/>
                <a:cs typeface="Calibri" pitchFamily="34" charset="-120"/>
              </a:rPr>
              <a:t>4</a:t>
            </a:r>
            <a:endParaRPr lang="en-US" sz="9000" dirty="0"/>
          </a:p>
        </p:txBody>
      </p:sp>
      <p:sp>
        <p:nvSpPr>
          <p:cNvPr id="4" name="Text 2"/>
          <p:cNvSpPr/>
          <p:nvPr/>
        </p:nvSpPr>
        <p:spPr>
          <a:xfrm>
            <a:off x="1207008" y="804672"/>
            <a:ext cx="548640" cy="347472"/>
          </a:xfrm>
          <a:prstGeom prst="rect">
            <a:avLst/>
          </a:prstGeom>
          <a:noFill/>
          <a:ln/>
        </p:spPr>
        <p:txBody>
          <a:bodyPr wrap="square" rtlCol="0" anchor="b"/>
          <a:lstStyle/>
          <a:p>
            <a:pPr indent="0" marL="0">
              <a:buNone/>
            </a:pPr>
            <a:r>
              <a:rPr lang="en-US" sz="1300" dirty="0">
                <a:solidFill>
                  <a:srgbClr val="5C6E8C"/>
                </a:solidFill>
                <a:latin typeface="Calibri" pitchFamily="34" charset="0"/>
                <a:ea typeface="Calibri" pitchFamily="34" charset="-122"/>
                <a:cs typeface="Calibri" pitchFamily="34" charset="-120"/>
              </a:rPr>
              <a:t>/ 5</a:t>
            </a:r>
            <a:endParaRPr lang="en-US" sz="1300" dirty="0"/>
          </a:p>
        </p:txBody>
      </p:sp>
      <p:sp>
        <p:nvSpPr>
          <p:cNvPr id="5" name="Text 3"/>
          <p:cNvSpPr/>
          <p:nvPr/>
        </p:nvSpPr>
        <p:spPr>
          <a:xfrm>
            <a:off x="1828800" y="182880"/>
            <a:ext cx="9784080" cy="731520"/>
          </a:xfrm>
          <a:prstGeom prst="rect">
            <a:avLst/>
          </a:prstGeom>
          <a:noFill/>
          <a:ln/>
        </p:spPr>
        <p:txBody>
          <a:bodyPr wrap="square" rtlCol="0" anchor="ctr"/>
          <a:lstStyle/>
          <a:p>
            <a:pPr indent="0" marL="0">
              <a:buNone/>
            </a:pPr>
            <a:r>
              <a:rPr lang="en-US" sz="3000" b="1" dirty="0">
                <a:solidFill>
                  <a:srgbClr val="D9E4F5"/>
                </a:solidFill>
                <a:latin typeface="Calibri" pitchFamily="34" charset="0"/>
                <a:ea typeface="Calibri" pitchFamily="34" charset="-122"/>
                <a:cs typeface="Calibri" pitchFamily="34" charset="-120"/>
              </a:rPr>
              <a:t>Running a Capstone Project</a:t>
            </a:r>
            <a:endParaRPr lang="en-US" sz="3000" dirty="0"/>
          </a:p>
        </p:txBody>
      </p:sp>
      <p:sp>
        <p:nvSpPr>
          <p:cNvPr id="6" name="Text 4"/>
          <p:cNvSpPr/>
          <p:nvPr/>
        </p:nvSpPr>
        <p:spPr>
          <a:xfrm>
            <a:off x="1828800" y="822960"/>
            <a:ext cx="5486400" cy="274320"/>
          </a:xfrm>
          <a:prstGeom prst="rect">
            <a:avLst/>
          </a:prstGeom>
          <a:noFill/>
          <a:ln/>
        </p:spPr>
        <p:txBody>
          <a:bodyPr wrap="square" rtlCol="0" anchor="ctr"/>
          <a:lstStyle/>
          <a:p>
            <a:pPr indent="0" marL="0">
              <a:buNone/>
            </a:pPr>
            <a:r>
              <a:rPr lang="en-US" sz="1000" spc="300" kern="0" dirty="0">
                <a:solidFill>
                  <a:srgbClr val="5C6E8C"/>
                </a:solidFill>
                <a:latin typeface="Calibri" pitchFamily="34" charset="0"/>
                <a:ea typeface="Calibri" pitchFamily="34" charset="-122"/>
                <a:cs typeface="Calibri" pitchFamily="34" charset="-120"/>
              </a:rPr>
              <a:t>Principle 4</a:t>
            </a:r>
            <a:endParaRPr lang="en-US" sz="1000" dirty="0"/>
          </a:p>
        </p:txBody>
      </p:sp>
      <p:sp>
        <p:nvSpPr>
          <p:cNvPr id="7" name="Shape 5"/>
          <p:cNvSpPr/>
          <p:nvPr/>
        </p:nvSpPr>
        <p:spPr>
          <a:xfrm>
            <a:off x="502920" y="1261872"/>
            <a:ext cx="11155680" cy="0"/>
          </a:xfrm>
          <a:prstGeom prst="line">
            <a:avLst/>
          </a:prstGeom>
          <a:noFill/>
          <a:ln w="12700">
            <a:solidFill>
              <a:srgbClr val="253555"/>
            </a:solidFill>
            <a:prstDash val="solid"/>
          </a:ln>
        </p:spPr>
      </p:sp>
      <p:sp>
        <p:nvSpPr>
          <p:cNvPr id="8" name="Text 6"/>
          <p:cNvSpPr/>
          <p:nvPr/>
        </p:nvSpPr>
        <p:spPr>
          <a:xfrm>
            <a:off x="502920" y="1389888"/>
            <a:ext cx="11155680" cy="1417320"/>
          </a:xfrm>
          <a:prstGeom prst="rect">
            <a:avLst/>
          </a:prstGeom>
          <a:noFill/>
          <a:ln/>
        </p:spPr>
        <p:txBody>
          <a:bodyPr wrap="square" rtlCol="0" anchor="t"/>
          <a:lstStyle/>
          <a:p>
            <a:pPr indent="0" marL="0">
              <a:lnSpc>
                <a:spcPct val="145000"/>
              </a:lnSpc>
              <a:buNone/>
            </a:pPr>
            <a:r>
              <a:rPr lang="en-US" sz="1500" dirty="0">
                <a:solidFill>
                  <a:srgbClr val="D9E4F5"/>
                </a:solidFill>
                <a:latin typeface="Calibri" pitchFamily="34" charset="0"/>
                <a:ea typeface="Calibri" pitchFamily="34" charset="-122"/>
                <a:cs typeface="Calibri" pitchFamily="34" charset="-120"/>
              </a:rPr>
              <a:t>Build the capstone project during the course, not at its end: students gradually develop a significant, novel, technically deep system, presenting at stages and improving it on continuous instructor feedback.</a:t>
            </a:r>
            <a:endParaRPr lang="en-US" sz="1500" dirty="0"/>
          </a:p>
        </p:txBody>
      </p:sp>
      <p:sp>
        <p:nvSpPr>
          <p:cNvPr id="9" name="Shape 7"/>
          <p:cNvSpPr/>
          <p:nvPr/>
        </p:nvSpPr>
        <p:spPr>
          <a:xfrm>
            <a:off x="502920" y="2926080"/>
            <a:ext cx="11155680" cy="1508760"/>
          </a:xfrm>
          <a:prstGeom prst="roundRect">
            <a:avLst>
              <a:gd name="adj" fmla="val 6061"/>
            </a:avLst>
          </a:prstGeom>
          <a:solidFill>
            <a:srgbClr val="192840"/>
          </a:solidFill>
          <a:ln w="12700">
            <a:solidFill>
              <a:srgbClr val="4FC8E8"/>
            </a:solidFill>
            <a:prstDash val="solid"/>
          </a:ln>
        </p:spPr>
      </p:sp>
      <p:sp>
        <p:nvSpPr>
          <p:cNvPr id="10" name="Text 8"/>
          <p:cNvSpPr/>
          <p:nvPr/>
        </p:nvSpPr>
        <p:spPr>
          <a:xfrm>
            <a:off x="685800" y="2999232"/>
            <a:ext cx="10789920" cy="1371600"/>
          </a:xfrm>
          <a:prstGeom prst="rect">
            <a:avLst/>
          </a:prstGeom>
          <a:noFill/>
          <a:ln/>
        </p:spPr>
        <p:txBody>
          <a:bodyPr wrap="square" rtlCol="0" anchor="t"/>
          <a:lstStyle/>
          <a:p>
            <a:pPr indent="0" marL="0">
              <a:lnSpc>
                <a:spcPct val="145000"/>
              </a:lnSpc>
              <a:buNone/>
            </a:pPr>
            <a:r>
              <a:rPr lang="en-US" sz="1200" b="1" dirty="0">
                <a:solidFill>
                  <a:srgbClr val="4FC8E8"/>
                </a:solidFill>
                <a:latin typeface="Calibri" pitchFamily="34" charset="0"/>
                <a:ea typeface="Calibri" pitchFamily="34" charset="-122"/>
                <a:cs typeface="Calibri" pitchFamily="34" charset="-120"/>
              </a:rPr>
              <a:t>In the syllabus: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syllabus should define the capstone timeline: milestones, staged presentations (proposal, interim, final), feedback points, and how project work is scheduled across the weeks.</a:t>
            </a:r>
            <a:endParaRPr lang="en-US" sz="1200" dirty="0"/>
          </a:p>
        </p:txBody>
      </p:sp>
      <p:sp>
        <p:nvSpPr>
          <p:cNvPr id="11" name="Shape 9"/>
          <p:cNvSpPr/>
          <p:nvPr/>
        </p:nvSpPr>
        <p:spPr>
          <a:xfrm>
            <a:off x="502920" y="4590288"/>
            <a:ext cx="11155680" cy="1371600"/>
          </a:xfrm>
          <a:prstGeom prst="roundRect">
            <a:avLst>
              <a:gd name="adj" fmla="val 6667"/>
            </a:avLst>
          </a:prstGeom>
          <a:solidFill>
            <a:srgbClr val="192840"/>
          </a:solidFill>
          <a:ln w="12700">
            <a:solidFill>
              <a:srgbClr val="E8595A"/>
            </a:solidFill>
            <a:prstDash val="solid"/>
          </a:ln>
        </p:spPr>
      </p:sp>
      <p:sp>
        <p:nvSpPr>
          <p:cNvPr id="12" name="Text 10"/>
          <p:cNvSpPr/>
          <p:nvPr/>
        </p:nvSpPr>
        <p:spPr>
          <a:xfrm>
            <a:off x="685800" y="4663440"/>
            <a:ext cx="10789920" cy="1234440"/>
          </a:xfrm>
          <a:prstGeom prst="rect">
            <a:avLst/>
          </a:prstGeom>
          <a:noFill/>
          <a:ln/>
        </p:spPr>
        <p:txBody>
          <a:bodyPr wrap="square" rtlCol="0" anchor="t"/>
          <a:lstStyle/>
          <a:p>
            <a:pPr indent="0" marL="0">
              <a:lnSpc>
                <a:spcPct val="145000"/>
              </a:lnSpc>
              <a:buNone/>
            </a:pPr>
            <a:r>
              <a:rPr lang="en-US" sz="1200" b="1" dirty="0">
                <a:solidFill>
                  <a:srgbClr val="E8595A"/>
                </a:solidFill>
                <a:latin typeface="Calibri" pitchFamily="34" charset="0"/>
                <a:ea typeface="Calibri" pitchFamily="34" charset="-122"/>
                <a:cs typeface="Calibri" pitchFamily="34" charset="-120"/>
              </a:rPr>
              <a:t>Common risk: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work may reduce to small, disconnected exercise-like tasks that students finish by pattern matching, with no real integration, staged presentations, or feedback.</a:t>
            </a:r>
            <a:endParaRPr lang="en-US" sz="1200" dirty="0"/>
          </a:p>
        </p:txBody>
      </p:sp>
      <p:sp>
        <p:nvSpPr>
          <p:cNvPr id="13" name="Text 11"/>
          <p:cNvSpPr/>
          <p:nvPr/>
        </p:nvSpPr>
        <p:spPr>
          <a:xfrm>
            <a:off x="457200" y="6601968"/>
            <a:ext cx="11247120" cy="182880"/>
          </a:xfrm>
          <a:prstGeom prst="rect">
            <a:avLst/>
          </a:prstGeom>
          <a:noFill/>
          <a:ln/>
        </p:spPr>
        <p:txBody>
          <a:bodyPr wrap="square" rtlCol="0" anchor="ctr"/>
          <a:lstStyle/>
          <a:p>
            <a:pPr algn="ctr" indent="0" marL="0">
              <a:buNone/>
            </a:pPr>
            <a:r>
              <a:rPr lang="en-US" sz="800" dirty="0">
                <a:solidFill>
                  <a:srgbClr val="5C6E8C"/>
                </a:solidFill>
                <a:latin typeface="Calibri" pitchFamily="34" charset="0"/>
                <a:ea typeface="Calibri" pitchFamily="34" charset="-122"/>
                <a:cs typeface="Calibri" pitchFamily="34" charset="-120"/>
              </a:rPr>
              <a:t>Advanced CS Elective Design Guidelines  ·  Sasha Apartsin  ·  apartsin.com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41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A33A"/>
          </a:solidFill>
          <a:ln/>
        </p:spPr>
      </p:sp>
      <p:sp>
        <p:nvSpPr>
          <p:cNvPr id="3" name="Text 1"/>
          <p:cNvSpPr/>
          <p:nvPr/>
        </p:nvSpPr>
        <p:spPr>
          <a:xfrm>
            <a:off x="457200" y="109728"/>
            <a:ext cx="1097280" cy="1371600"/>
          </a:xfrm>
          <a:prstGeom prst="rect">
            <a:avLst/>
          </a:prstGeom>
          <a:noFill/>
          <a:ln/>
        </p:spPr>
        <p:txBody>
          <a:bodyPr wrap="square" lIns="0" tIns="0" rIns="0" bIns="0" rtlCol="0" anchor="t"/>
          <a:lstStyle/>
          <a:p>
            <a:pPr algn="ctr" indent="0" marL="0">
              <a:buNone/>
            </a:pPr>
            <a:r>
              <a:rPr lang="en-US" sz="9000" b="1" dirty="0">
                <a:solidFill>
                  <a:srgbClr val="E8A33A"/>
                </a:solidFill>
                <a:latin typeface="Calibri" pitchFamily="34" charset="0"/>
                <a:ea typeface="Calibri" pitchFamily="34" charset="-122"/>
                <a:cs typeface="Calibri" pitchFamily="34" charset="-120"/>
              </a:rPr>
              <a:t>5</a:t>
            </a:r>
            <a:endParaRPr lang="en-US" sz="9000" dirty="0"/>
          </a:p>
        </p:txBody>
      </p:sp>
      <p:sp>
        <p:nvSpPr>
          <p:cNvPr id="4" name="Text 2"/>
          <p:cNvSpPr/>
          <p:nvPr/>
        </p:nvSpPr>
        <p:spPr>
          <a:xfrm>
            <a:off x="1207008" y="804672"/>
            <a:ext cx="548640" cy="347472"/>
          </a:xfrm>
          <a:prstGeom prst="rect">
            <a:avLst/>
          </a:prstGeom>
          <a:noFill/>
          <a:ln/>
        </p:spPr>
        <p:txBody>
          <a:bodyPr wrap="square" rtlCol="0" anchor="b"/>
          <a:lstStyle/>
          <a:p>
            <a:pPr indent="0" marL="0">
              <a:buNone/>
            </a:pPr>
            <a:r>
              <a:rPr lang="en-US" sz="1300" dirty="0">
                <a:solidFill>
                  <a:srgbClr val="5C6E8C"/>
                </a:solidFill>
                <a:latin typeface="Calibri" pitchFamily="34" charset="0"/>
                <a:ea typeface="Calibri" pitchFamily="34" charset="-122"/>
                <a:cs typeface="Calibri" pitchFamily="34" charset="-120"/>
              </a:rPr>
              <a:t>/ 5</a:t>
            </a:r>
            <a:endParaRPr lang="en-US" sz="1300" dirty="0"/>
          </a:p>
        </p:txBody>
      </p:sp>
      <p:sp>
        <p:nvSpPr>
          <p:cNvPr id="5" name="Text 3"/>
          <p:cNvSpPr/>
          <p:nvPr/>
        </p:nvSpPr>
        <p:spPr>
          <a:xfrm>
            <a:off x="1828800" y="182880"/>
            <a:ext cx="9784080" cy="731520"/>
          </a:xfrm>
          <a:prstGeom prst="rect">
            <a:avLst/>
          </a:prstGeom>
          <a:noFill/>
          <a:ln/>
        </p:spPr>
        <p:txBody>
          <a:bodyPr wrap="square" rtlCol="0" anchor="ctr"/>
          <a:lstStyle/>
          <a:p>
            <a:pPr indent="0" marL="0">
              <a:buNone/>
            </a:pPr>
            <a:r>
              <a:rPr lang="en-US" sz="3000" b="1" dirty="0">
                <a:solidFill>
                  <a:srgbClr val="D9E4F5"/>
                </a:solidFill>
                <a:latin typeface="Calibri" pitchFamily="34" charset="0"/>
                <a:ea typeface="Calibri" pitchFamily="34" charset="-122"/>
                <a:cs typeface="Calibri" pitchFamily="34" charset="-120"/>
              </a:rPr>
              <a:t>Tangible Delivery</a:t>
            </a:r>
            <a:endParaRPr lang="en-US" sz="3000" dirty="0"/>
          </a:p>
        </p:txBody>
      </p:sp>
      <p:sp>
        <p:nvSpPr>
          <p:cNvPr id="6" name="Text 4"/>
          <p:cNvSpPr/>
          <p:nvPr/>
        </p:nvSpPr>
        <p:spPr>
          <a:xfrm>
            <a:off x="1828800" y="822960"/>
            <a:ext cx="5486400" cy="274320"/>
          </a:xfrm>
          <a:prstGeom prst="rect">
            <a:avLst/>
          </a:prstGeom>
          <a:noFill/>
          <a:ln/>
        </p:spPr>
        <p:txBody>
          <a:bodyPr wrap="square" rtlCol="0" anchor="ctr"/>
          <a:lstStyle/>
          <a:p>
            <a:pPr indent="0" marL="0">
              <a:buNone/>
            </a:pPr>
            <a:r>
              <a:rPr lang="en-US" sz="1000" spc="300" kern="0" dirty="0">
                <a:solidFill>
                  <a:srgbClr val="5C6E8C"/>
                </a:solidFill>
                <a:latin typeface="Calibri" pitchFamily="34" charset="0"/>
                <a:ea typeface="Calibri" pitchFamily="34" charset="-122"/>
                <a:cs typeface="Calibri" pitchFamily="34" charset="-120"/>
              </a:rPr>
              <a:t>Principle 5</a:t>
            </a:r>
            <a:endParaRPr lang="en-US" sz="1000" dirty="0"/>
          </a:p>
        </p:txBody>
      </p:sp>
      <p:sp>
        <p:nvSpPr>
          <p:cNvPr id="7" name="Shape 5"/>
          <p:cNvSpPr/>
          <p:nvPr/>
        </p:nvSpPr>
        <p:spPr>
          <a:xfrm>
            <a:off x="502920" y="1261872"/>
            <a:ext cx="11155680" cy="0"/>
          </a:xfrm>
          <a:prstGeom prst="line">
            <a:avLst/>
          </a:prstGeom>
          <a:noFill/>
          <a:ln w="12700">
            <a:solidFill>
              <a:srgbClr val="253555"/>
            </a:solidFill>
            <a:prstDash val="solid"/>
          </a:ln>
        </p:spPr>
      </p:sp>
      <p:sp>
        <p:nvSpPr>
          <p:cNvPr id="8" name="Text 6"/>
          <p:cNvSpPr/>
          <p:nvPr/>
        </p:nvSpPr>
        <p:spPr>
          <a:xfrm>
            <a:off x="502920" y="1389888"/>
            <a:ext cx="11155680" cy="1417320"/>
          </a:xfrm>
          <a:prstGeom prst="rect">
            <a:avLst/>
          </a:prstGeom>
          <a:noFill/>
          <a:ln/>
        </p:spPr>
        <p:txBody>
          <a:bodyPr wrap="square" rtlCol="0" anchor="t"/>
          <a:lstStyle/>
          <a:p>
            <a:pPr indent="0" marL="0">
              <a:lnSpc>
                <a:spcPct val="145000"/>
              </a:lnSpc>
              <a:buNone/>
            </a:pPr>
            <a:r>
              <a:rPr lang="en-US" sz="1500" dirty="0">
                <a:solidFill>
                  <a:srgbClr val="D9E4F5"/>
                </a:solidFill>
                <a:latin typeface="Calibri" pitchFamily="34" charset="0"/>
                <a:ea typeface="Calibri" pitchFamily="34" charset="-122"/>
                <a:cs typeface="Calibri" pitchFamily="34" charset="-120"/>
              </a:rPr>
              <a:t>The completed capstone project produces a demonstrable, tangible deliverable: a well-documented GitHub repository with all development artifacts and a clear README that lets anyone reproduce the work — ready to add to the student's portfolio and a proof of expertise built through real experience.</a:t>
            </a:r>
            <a:endParaRPr lang="en-US" sz="1500" dirty="0"/>
          </a:p>
        </p:txBody>
      </p:sp>
      <p:sp>
        <p:nvSpPr>
          <p:cNvPr id="9" name="Shape 7"/>
          <p:cNvSpPr/>
          <p:nvPr/>
        </p:nvSpPr>
        <p:spPr>
          <a:xfrm>
            <a:off x="502920" y="2926080"/>
            <a:ext cx="11155680" cy="1508760"/>
          </a:xfrm>
          <a:prstGeom prst="roundRect">
            <a:avLst>
              <a:gd name="adj" fmla="val 6061"/>
            </a:avLst>
          </a:prstGeom>
          <a:solidFill>
            <a:srgbClr val="192840"/>
          </a:solidFill>
          <a:ln w="12700">
            <a:solidFill>
              <a:srgbClr val="4FC8E8"/>
            </a:solidFill>
            <a:prstDash val="solid"/>
          </a:ln>
        </p:spPr>
      </p:sp>
      <p:sp>
        <p:nvSpPr>
          <p:cNvPr id="10" name="Text 8"/>
          <p:cNvSpPr/>
          <p:nvPr/>
        </p:nvSpPr>
        <p:spPr>
          <a:xfrm>
            <a:off x="685800" y="2999232"/>
            <a:ext cx="10789920" cy="1371600"/>
          </a:xfrm>
          <a:prstGeom prst="rect">
            <a:avLst/>
          </a:prstGeom>
          <a:noFill/>
          <a:ln/>
        </p:spPr>
        <p:txBody>
          <a:bodyPr wrap="square" rtlCol="0" anchor="t"/>
          <a:lstStyle/>
          <a:p>
            <a:pPr indent="0" marL="0">
              <a:lnSpc>
                <a:spcPct val="145000"/>
              </a:lnSpc>
              <a:buNone/>
            </a:pPr>
            <a:r>
              <a:rPr lang="en-US" sz="1200" b="1" dirty="0">
                <a:solidFill>
                  <a:srgbClr val="4FC8E8"/>
                </a:solidFill>
                <a:latin typeface="Calibri" pitchFamily="34" charset="0"/>
                <a:ea typeface="Calibri" pitchFamily="34" charset="-122"/>
                <a:cs typeface="Calibri" pitchFamily="34" charset="-120"/>
              </a:rPr>
              <a:t>In the syllabus: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The syllabus should state the required deliverable and its acceptance criteria: a documented GitHub repository with all artifacts, a README, and reproducibility expectations.</a:t>
            </a:r>
            <a:endParaRPr lang="en-US" sz="1200" dirty="0"/>
          </a:p>
        </p:txBody>
      </p:sp>
      <p:sp>
        <p:nvSpPr>
          <p:cNvPr id="11" name="Shape 9"/>
          <p:cNvSpPr/>
          <p:nvPr/>
        </p:nvSpPr>
        <p:spPr>
          <a:xfrm>
            <a:off x="502920" y="4590288"/>
            <a:ext cx="11155680" cy="1371600"/>
          </a:xfrm>
          <a:prstGeom prst="roundRect">
            <a:avLst>
              <a:gd name="adj" fmla="val 6667"/>
            </a:avLst>
          </a:prstGeom>
          <a:solidFill>
            <a:srgbClr val="192840"/>
          </a:solidFill>
          <a:ln w="12700">
            <a:solidFill>
              <a:srgbClr val="E8595A"/>
            </a:solidFill>
            <a:prstDash val="solid"/>
          </a:ln>
        </p:spPr>
      </p:sp>
      <p:sp>
        <p:nvSpPr>
          <p:cNvPr id="12" name="Text 10"/>
          <p:cNvSpPr/>
          <p:nvPr/>
        </p:nvSpPr>
        <p:spPr>
          <a:xfrm>
            <a:off x="685800" y="4663440"/>
            <a:ext cx="10789920" cy="1234440"/>
          </a:xfrm>
          <a:prstGeom prst="rect">
            <a:avLst/>
          </a:prstGeom>
          <a:noFill/>
          <a:ln/>
        </p:spPr>
        <p:txBody>
          <a:bodyPr wrap="square" rtlCol="0" anchor="t"/>
          <a:lstStyle/>
          <a:p>
            <a:pPr indent="0" marL="0">
              <a:lnSpc>
                <a:spcPct val="145000"/>
              </a:lnSpc>
              <a:buNone/>
            </a:pPr>
            <a:r>
              <a:rPr lang="en-US" sz="1200" b="1" dirty="0">
                <a:solidFill>
                  <a:srgbClr val="E8595A"/>
                </a:solidFill>
                <a:latin typeface="Calibri" pitchFamily="34" charset="0"/>
                <a:ea typeface="Calibri" pitchFamily="34" charset="-122"/>
                <a:cs typeface="Calibri" pitchFamily="34" charset="-120"/>
              </a:rPr>
              <a:t>Common risk:  </a:t>
            </a:r>
            <a:pPr indent="0" marL="0">
              <a:lnSpc>
                <a:spcPct val="145000"/>
              </a:lnSpc>
              <a:buNone/>
            </a:pPr>
            <a:r>
              <a:rPr lang="en-US" sz="1200" dirty="0">
                <a:solidFill>
                  <a:srgbClr val="8A9DC0"/>
                </a:solidFill>
                <a:latin typeface="Calibri" pitchFamily="34" charset="0"/>
                <a:ea typeface="Calibri" pitchFamily="34" charset="-122"/>
                <a:cs typeface="Calibri" pitchFamily="34" charset="-120"/>
              </a:rPr>
              <a:t>Students may hand in only slides or a written report, with no runnable repository, missing artifacts, or no way to reproduce what was built.</a:t>
            </a:r>
            <a:endParaRPr lang="en-US" sz="1200" dirty="0"/>
          </a:p>
        </p:txBody>
      </p:sp>
      <p:sp>
        <p:nvSpPr>
          <p:cNvPr id="13" name="Text 11"/>
          <p:cNvSpPr/>
          <p:nvPr/>
        </p:nvSpPr>
        <p:spPr>
          <a:xfrm>
            <a:off x="457200" y="6601968"/>
            <a:ext cx="11247120" cy="182880"/>
          </a:xfrm>
          <a:prstGeom prst="rect">
            <a:avLst/>
          </a:prstGeom>
          <a:noFill/>
          <a:ln/>
        </p:spPr>
        <p:txBody>
          <a:bodyPr wrap="square" rtlCol="0" anchor="ctr"/>
          <a:lstStyle/>
          <a:p>
            <a:pPr algn="ctr" indent="0" marL="0">
              <a:buNone/>
            </a:pPr>
            <a:r>
              <a:rPr lang="en-US" sz="800" dirty="0">
                <a:solidFill>
                  <a:srgbClr val="5C6E8C"/>
                </a:solidFill>
                <a:latin typeface="Calibri" pitchFamily="34" charset="0"/>
                <a:ea typeface="Calibri" pitchFamily="34" charset="-122"/>
                <a:cs typeface="Calibri" pitchFamily="34" charset="-120"/>
              </a:rPr>
              <a:t>Advanced CS Elective Design Guidelines  ·  Sasha Apartsin  ·  apartsin.com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2026-07-26T11:05:57Z</dcterms:created>
  <dcterms:modified xsi:type="dcterms:W3CDTF">2026-07-26T11:05:57Z</dcterms:modified>
</cp:coreProperties>
</file>